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65" r:id="rId2"/>
    <p:sldId id="267" r:id="rId3"/>
    <p:sldId id="271" r:id="rId4"/>
    <p:sldId id="266" r:id="rId5"/>
    <p:sldId id="268" r:id="rId6"/>
    <p:sldId id="269" r:id="rId7"/>
    <p:sldId id="270" r:id="rId8"/>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14"/>
    <p:restoredTop sz="94694"/>
  </p:normalViewPr>
  <p:slideViewPr>
    <p:cSldViewPr snapToGrid="0" snapToObjects="1">
      <p:cViewPr varScale="1">
        <p:scale>
          <a:sx n="121" d="100"/>
          <a:sy n="121" d="100"/>
        </p:scale>
        <p:origin x="27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7A7279-E60E-0F4B-A492-5BF69316071C}" type="datetimeFigureOut">
              <a:rPr lang="fr-FR" smtClean="0"/>
              <a:t>03/09/2025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B3A460-0244-0A48-960D-03CDE98D2AF9}" type="slidenum">
              <a:rPr lang="fr-FR" smtClean="0"/>
              <a:t>‹N°›</a:t>
            </a:fld>
            <a:endParaRPr lang="fr-FR"/>
          </a:p>
        </p:txBody>
      </p:sp>
    </p:spTree>
    <p:extLst>
      <p:ext uri="{BB962C8B-B14F-4D97-AF65-F5344CB8AC3E}">
        <p14:creationId xmlns:p14="http://schemas.microsoft.com/office/powerpoint/2010/main" val="54523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FAA01D6-3E2E-3048-88FB-F31D2D7D01E7}"/>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682CB76D-5934-D243-9648-80A4335889E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3A3D4122-66CD-9E42-89C0-5FF3243C9BD1}"/>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5" name="Espace réservé du pied de page 4">
            <a:extLst>
              <a:ext uri="{FF2B5EF4-FFF2-40B4-BE49-F238E27FC236}">
                <a16:creationId xmlns:a16="http://schemas.microsoft.com/office/drawing/2014/main" id="{AC367ED6-E912-6D4F-8988-D694069505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EFBFA74-1AD7-C74F-AAB3-1BE3F84EE4E2}"/>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1740593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3BFA2A1-52A0-4C4C-982A-583ADC777766}"/>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BD5EF50-1A2F-8A4B-A7F8-ACA28C837C27}"/>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7234B17-B7BC-0B46-888A-F5D6ECAFB9A9}"/>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5" name="Espace réservé du pied de page 4">
            <a:extLst>
              <a:ext uri="{FF2B5EF4-FFF2-40B4-BE49-F238E27FC236}">
                <a16:creationId xmlns:a16="http://schemas.microsoft.com/office/drawing/2014/main" id="{8C9C62B8-C921-B446-8AA2-10A1C1C83B8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63B5121-9805-6C4F-875C-E9EC1279FC1A}"/>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2804908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6F10F6-BE6C-AC4D-801F-11E488670C12}"/>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E367D0E-EE68-5740-BFA0-0087A7D2E21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927341AA-5E57-EB43-B20A-60AAEB554C9D}"/>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5" name="Espace réservé du pied de page 4">
            <a:extLst>
              <a:ext uri="{FF2B5EF4-FFF2-40B4-BE49-F238E27FC236}">
                <a16:creationId xmlns:a16="http://schemas.microsoft.com/office/drawing/2014/main" id="{FB32DA83-099B-5746-B11A-44DB92193BC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CE0C98C-6A2F-1441-8C04-12B2D3956F2E}"/>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22789122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632F7A-5579-7444-AA1A-7CB6646F07CB}"/>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C5B9E0ED-AD69-D54C-A6E3-7459B9015F1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DB488FE-8C00-B140-9835-372611083AD4}"/>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10120A1F-A22F-9C4E-A1B2-929CBDA6D9E9}"/>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6" name="Espace réservé du pied de page 5">
            <a:extLst>
              <a:ext uri="{FF2B5EF4-FFF2-40B4-BE49-F238E27FC236}">
                <a16:creationId xmlns:a16="http://schemas.microsoft.com/office/drawing/2014/main" id="{2C77A836-D3EF-604D-AAA2-DC4527B7515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A2ABFA2-8FE5-E14C-B37A-4F38B3B5CD66}"/>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1624771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5FBC819-9B07-044F-A179-746D4929148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2B0EB5E9-9B71-8E4B-9E43-6D545C12E9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2DDFB3A0-7712-F845-80E1-118F655EDA7A}"/>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FD1369E9-BC2C-864C-949B-D2BAEE0DEDA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6A2AD5F-4DCC-0D4D-A8EA-22C9A9AFFFA6}"/>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E0F63096-4AD4-3042-81C0-04807FC612FC}"/>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8" name="Espace réservé du pied de page 7">
            <a:extLst>
              <a:ext uri="{FF2B5EF4-FFF2-40B4-BE49-F238E27FC236}">
                <a16:creationId xmlns:a16="http://schemas.microsoft.com/office/drawing/2014/main" id="{BB30CC11-22DD-994F-8512-097B9D0E3100}"/>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D09345E6-37B6-1B4B-96ED-79FB47D05684}"/>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40745870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9BAE7BC-CE39-B447-8A8E-37A067795658}"/>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A243D727-7EF1-7440-BC9C-E4EAF8560D27}"/>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4" name="Espace réservé du pied de page 3">
            <a:extLst>
              <a:ext uri="{FF2B5EF4-FFF2-40B4-BE49-F238E27FC236}">
                <a16:creationId xmlns:a16="http://schemas.microsoft.com/office/drawing/2014/main" id="{90199F62-E42A-D841-B3AA-2E39023A6EFD}"/>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660AD364-1AA0-0440-A000-BF42A402AAAC}"/>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1015166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E3F1DD0C-698E-EF48-BE50-E044DC3952FA}"/>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3" name="Espace réservé du pied de page 2">
            <a:extLst>
              <a:ext uri="{FF2B5EF4-FFF2-40B4-BE49-F238E27FC236}">
                <a16:creationId xmlns:a16="http://schemas.microsoft.com/office/drawing/2014/main" id="{21176551-4BEC-C444-8040-31EC8F3B697B}"/>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6674863B-B89E-A444-ABEA-51569A336A22}"/>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38891603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1DC7065-1F1C-2B4C-A28A-1537E16F83C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D475F5A1-612D-F74E-87FA-E6CE03F31C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35A4101-49B9-0C4F-A8A1-A9794A836A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3FB6F4A3-9CE6-2B4D-BB7F-647D0900BB16}"/>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6" name="Espace réservé du pied de page 5">
            <a:extLst>
              <a:ext uri="{FF2B5EF4-FFF2-40B4-BE49-F238E27FC236}">
                <a16:creationId xmlns:a16="http://schemas.microsoft.com/office/drawing/2014/main" id="{7FE284CA-6C41-2649-8DAB-27F40417017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D2842D4-3997-2847-A4FB-AB28B87104BF}"/>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8955474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28B6831-5D34-5C42-8123-714202C5C43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E69959DE-C234-FE4E-A64F-58D6B5DC3C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3DFBA18B-B91B-2440-96FC-5377DDDAC7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A121DFAF-AF5D-334E-BDF8-ED54C09C36F1}"/>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6" name="Espace réservé du pied de page 5">
            <a:extLst>
              <a:ext uri="{FF2B5EF4-FFF2-40B4-BE49-F238E27FC236}">
                <a16:creationId xmlns:a16="http://schemas.microsoft.com/office/drawing/2014/main" id="{2B1C6804-F84C-2D4A-B198-884AC6CC392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EF072D9-1DD2-F045-A12C-19BF2444574B}"/>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9879456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4FB344-6841-E644-992C-F77F76795E36}"/>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AC7C83A0-E4AF-AF4E-8764-B493406D166B}"/>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7355F40-A974-204B-AE8B-E64BE8C63EC2}"/>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5" name="Espace réservé du pied de page 4">
            <a:extLst>
              <a:ext uri="{FF2B5EF4-FFF2-40B4-BE49-F238E27FC236}">
                <a16:creationId xmlns:a16="http://schemas.microsoft.com/office/drawing/2014/main" id="{94037AF3-39EA-8246-AED8-95CD569290F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86CBD72-32CC-624A-ABEF-D3AB22AF5814}"/>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1127848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876D49FE-10F8-5741-A485-C4D72D28F782}"/>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CF877BDA-4CE1-8D45-A723-DA46BC19E697}"/>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8D3113FF-4266-2542-8168-A62F24313AC1}"/>
              </a:ext>
            </a:extLst>
          </p:cNvPr>
          <p:cNvSpPr>
            <a:spLocks noGrp="1"/>
          </p:cNvSpPr>
          <p:nvPr>
            <p:ph type="dt" sz="half" idx="10"/>
          </p:nvPr>
        </p:nvSpPr>
        <p:spPr/>
        <p:txBody>
          <a:bodyPr/>
          <a:lstStyle/>
          <a:p>
            <a:fld id="{7B9169B0-A344-9A43-AAD5-682508993835}" type="datetimeFigureOut">
              <a:rPr lang="fr-FR" smtClean="0"/>
              <a:t>03/09/2025</a:t>
            </a:fld>
            <a:endParaRPr lang="fr-FR"/>
          </a:p>
        </p:txBody>
      </p:sp>
      <p:sp>
        <p:nvSpPr>
          <p:cNvPr id="5" name="Espace réservé du pied de page 4">
            <a:extLst>
              <a:ext uri="{FF2B5EF4-FFF2-40B4-BE49-F238E27FC236}">
                <a16:creationId xmlns:a16="http://schemas.microsoft.com/office/drawing/2014/main" id="{CBA2D1A1-9920-E64B-9E59-F90F6C7080C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4BAD6C1-E0F9-C94C-9C49-DE1E32FEF5FC}"/>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26533540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9676B2C4-F4E4-7744-B2AE-E73CB1E155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56122187-1902-1B4A-84A8-B71EB2D62C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7727975-F918-FD47-9F32-6331AAF9FE3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B9169B0-A344-9A43-AAD5-682508993835}" type="datetimeFigureOut">
              <a:rPr lang="fr-FR" smtClean="0"/>
              <a:t>03/09/2025</a:t>
            </a:fld>
            <a:endParaRPr lang="fr-FR"/>
          </a:p>
        </p:txBody>
      </p:sp>
      <p:sp>
        <p:nvSpPr>
          <p:cNvPr id="5" name="Espace réservé du pied de page 4">
            <a:extLst>
              <a:ext uri="{FF2B5EF4-FFF2-40B4-BE49-F238E27FC236}">
                <a16:creationId xmlns:a16="http://schemas.microsoft.com/office/drawing/2014/main" id="{5D333007-5239-2248-8A97-69261B541A0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A89E6822-4693-D543-AA6A-2363ED31A91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AB45CD-FBC7-AD46-884B-BD8C98FD575D}" type="slidenum">
              <a:rPr lang="fr-FR" smtClean="0"/>
              <a:t>‹N°›</a:t>
            </a:fld>
            <a:endParaRPr lang="fr-FR"/>
          </a:p>
        </p:txBody>
      </p:sp>
    </p:spTree>
    <p:extLst>
      <p:ext uri="{BB962C8B-B14F-4D97-AF65-F5344CB8AC3E}">
        <p14:creationId xmlns:p14="http://schemas.microsoft.com/office/powerpoint/2010/main" val="16212811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AF7D3-A771-EFD7-8A5C-ED8079F029F7}"/>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EEA97FCA-B8AC-F736-113A-BC4821D6FC48}"/>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Optional Aesthetics</a:t>
            </a:r>
          </a:p>
        </p:txBody>
      </p:sp>
      <p:pic>
        <p:nvPicPr>
          <p:cNvPr id="1026" name="Picture 2">
            <a:extLst>
              <a:ext uri="{FF2B5EF4-FFF2-40B4-BE49-F238E27FC236}">
                <a16:creationId xmlns:a16="http://schemas.microsoft.com/office/drawing/2014/main" id="{26642E0C-BDD7-0C81-BB8A-4E67F342459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F2706D9E-AC94-1B6A-30B7-B9A0AD500149}"/>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2F519DFF-43C1-30B0-387C-7BAC30AB1856}"/>
              </a:ext>
            </a:extLst>
          </p:cNvPr>
          <p:cNvSpPr txBox="1"/>
          <p:nvPr/>
        </p:nvSpPr>
        <p:spPr>
          <a:xfrm>
            <a:off x="677589" y="1110481"/>
            <a:ext cx="10589756" cy="1938992"/>
          </a:xfrm>
          <a:prstGeom prst="rect">
            <a:avLst/>
          </a:prstGeom>
          <a:noFill/>
        </p:spPr>
        <p:txBody>
          <a:bodyPr wrap="square" rtlCol="0">
            <a:spAutoFit/>
          </a:bodyPr>
          <a:lstStyle/>
          <a:p>
            <a:pPr algn="just"/>
            <a:r>
              <a:rPr lang="fr-FR" sz="2000" noProof="1"/>
              <a:t>Each geometry type (points, lines, etc.) has a set of aesthetics that explain how visual elements relate to the data in our tabular dataset.</a:t>
            </a:r>
          </a:p>
          <a:p>
            <a:pPr algn="just"/>
            <a:endParaRPr lang="fr-FR" sz="2000" noProof="1"/>
          </a:p>
          <a:p>
            <a:pPr algn="just"/>
            <a:r>
              <a:rPr lang="fr-FR" sz="2000" noProof="1"/>
              <a:t>There are actually two different types of aesthetics: </a:t>
            </a:r>
            <a:r>
              <a:rPr lang="fr-FR" sz="2000" b="1" noProof="1"/>
              <a:t>required</a:t>
            </a:r>
            <a:r>
              <a:rPr lang="fr-FR" sz="2000" noProof="1"/>
              <a:t> and </a:t>
            </a:r>
            <a:r>
              <a:rPr lang="fr-FR" sz="2000" b="1" noProof="1"/>
              <a:t>optional</a:t>
            </a:r>
            <a:r>
              <a:rPr lang="fr-FR" sz="2000" noProof="1"/>
              <a:t>. We have to specify the required aesthetics. The optional ones have default values that we can use if we don’t specify them in our code.</a:t>
            </a:r>
          </a:p>
        </p:txBody>
      </p:sp>
    </p:spTree>
    <p:extLst>
      <p:ext uri="{BB962C8B-B14F-4D97-AF65-F5344CB8AC3E}">
        <p14:creationId xmlns:p14="http://schemas.microsoft.com/office/powerpoint/2010/main" val="17635555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AC270-4750-98EA-1571-6842D9BDBA97}"/>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70DD12DA-7CEC-867B-490F-C15954B8A023}"/>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Optional Aesthetics</a:t>
            </a:r>
          </a:p>
        </p:txBody>
      </p:sp>
      <p:pic>
        <p:nvPicPr>
          <p:cNvPr id="1026" name="Picture 2">
            <a:extLst>
              <a:ext uri="{FF2B5EF4-FFF2-40B4-BE49-F238E27FC236}">
                <a16:creationId xmlns:a16="http://schemas.microsoft.com/office/drawing/2014/main" id="{85A31CB5-9B8F-3AA5-A949-46952FF144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90030B53-A46B-2517-D081-0A222CD7716B}"/>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A2AA75AA-04B2-B840-5B8F-1A1B6A66AE98}"/>
              </a:ext>
            </a:extLst>
          </p:cNvPr>
          <p:cNvSpPr txBox="1"/>
          <p:nvPr/>
        </p:nvSpPr>
        <p:spPr>
          <a:xfrm>
            <a:off x="677589" y="1110481"/>
            <a:ext cx="10589756" cy="2554545"/>
          </a:xfrm>
          <a:prstGeom prst="rect">
            <a:avLst/>
          </a:prstGeom>
          <a:noFill/>
        </p:spPr>
        <p:txBody>
          <a:bodyPr wrap="square" rtlCol="0">
            <a:spAutoFit/>
          </a:bodyPr>
          <a:lstStyle/>
          <a:p>
            <a:pPr algn="just"/>
            <a:r>
              <a:rPr lang="fr-FR" sz="2000" noProof="1"/>
              <a:t>Each geometry type (points, lines, etc.) has a set of aesthetics that explain how visual elements relate to the data in our tabular dataset.</a:t>
            </a:r>
          </a:p>
          <a:p>
            <a:pPr algn="just"/>
            <a:endParaRPr lang="fr-FR" sz="2000" noProof="1"/>
          </a:p>
          <a:p>
            <a:pPr algn="just"/>
            <a:r>
              <a:rPr lang="fr-FR" sz="2000" noProof="1"/>
              <a:t>There are actually two different types of aesthetics: </a:t>
            </a:r>
            <a:r>
              <a:rPr lang="fr-FR" sz="2000" b="1" noProof="1"/>
              <a:t>required</a:t>
            </a:r>
            <a:r>
              <a:rPr lang="fr-FR" sz="2000" noProof="1"/>
              <a:t> and </a:t>
            </a:r>
            <a:r>
              <a:rPr lang="fr-FR" sz="2000" b="1" noProof="1"/>
              <a:t>optional</a:t>
            </a:r>
            <a:r>
              <a:rPr lang="fr-FR" sz="2000" noProof="1"/>
              <a:t>. We have to specify the required aesthetics. The optional ones have default values that we can use if we don’t specify them in our code.</a:t>
            </a:r>
          </a:p>
          <a:p>
            <a:pPr algn="just"/>
            <a:endParaRPr lang="fr-FR" sz="2000" noProof="1"/>
          </a:p>
          <a:p>
            <a:pPr algn="just"/>
            <a:r>
              <a:rPr lang="fr-FR" sz="2000" noProof="1"/>
              <a:t>For example, for geom_point we have:</a:t>
            </a:r>
          </a:p>
        </p:txBody>
      </p:sp>
      <p:sp>
        <p:nvSpPr>
          <p:cNvPr id="8" name="ZoneTexte 7">
            <a:extLst>
              <a:ext uri="{FF2B5EF4-FFF2-40B4-BE49-F238E27FC236}">
                <a16:creationId xmlns:a16="http://schemas.microsoft.com/office/drawing/2014/main" id="{A3CA991D-453C-B99E-DD90-E61B05E3FD0A}"/>
              </a:ext>
            </a:extLst>
          </p:cNvPr>
          <p:cNvSpPr txBox="1"/>
          <p:nvPr/>
        </p:nvSpPr>
        <p:spPr>
          <a:xfrm>
            <a:off x="2945398" y="4076770"/>
            <a:ext cx="1692493" cy="461665"/>
          </a:xfrm>
          <a:prstGeom prst="rect">
            <a:avLst/>
          </a:prstGeom>
          <a:noFill/>
        </p:spPr>
        <p:txBody>
          <a:bodyPr wrap="square" rtlCol="0">
            <a:spAutoFit/>
          </a:bodyPr>
          <a:lstStyle/>
          <a:p>
            <a:pPr algn="ctr"/>
            <a:r>
              <a:rPr lang="fr-FR" sz="2400" b="1" noProof="1">
                <a:solidFill>
                  <a:schemeClr val="accent5">
                    <a:lumMod val="75000"/>
                  </a:schemeClr>
                </a:solidFill>
              </a:rPr>
              <a:t>Required</a:t>
            </a:r>
          </a:p>
        </p:txBody>
      </p:sp>
      <p:sp>
        <p:nvSpPr>
          <p:cNvPr id="9" name="ZoneTexte 8">
            <a:extLst>
              <a:ext uri="{FF2B5EF4-FFF2-40B4-BE49-F238E27FC236}">
                <a16:creationId xmlns:a16="http://schemas.microsoft.com/office/drawing/2014/main" id="{18B63B67-52F6-6F2F-B8FE-380AB80087CA}"/>
              </a:ext>
            </a:extLst>
          </p:cNvPr>
          <p:cNvSpPr txBox="1"/>
          <p:nvPr/>
        </p:nvSpPr>
        <p:spPr>
          <a:xfrm>
            <a:off x="2945398" y="4848026"/>
            <a:ext cx="1692493" cy="461665"/>
          </a:xfrm>
          <a:prstGeom prst="rect">
            <a:avLst/>
          </a:prstGeom>
          <a:noFill/>
        </p:spPr>
        <p:txBody>
          <a:bodyPr wrap="square" rtlCol="0">
            <a:spAutoFit/>
          </a:bodyPr>
          <a:lstStyle/>
          <a:p>
            <a:pPr algn="ctr"/>
            <a:r>
              <a:rPr lang="fr-FR" sz="2400" b="1" noProof="1">
                <a:solidFill>
                  <a:schemeClr val="accent5">
                    <a:lumMod val="75000"/>
                  </a:schemeClr>
                </a:solidFill>
              </a:rPr>
              <a:t>Optional</a:t>
            </a:r>
          </a:p>
        </p:txBody>
      </p:sp>
      <p:sp>
        <p:nvSpPr>
          <p:cNvPr id="10" name="ZoneTexte 9">
            <a:extLst>
              <a:ext uri="{FF2B5EF4-FFF2-40B4-BE49-F238E27FC236}">
                <a16:creationId xmlns:a16="http://schemas.microsoft.com/office/drawing/2014/main" id="{8B1612A1-1946-9CF5-D42E-D52C77D1D62E}"/>
              </a:ext>
            </a:extLst>
          </p:cNvPr>
          <p:cNvSpPr txBox="1"/>
          <p:nvPr/>
        </p:nvSpPr>
        <p:spPr>
          <a:xfrm>
            <a:off x="4637891" y="4122936"/>
            <a:ext cx="3752435" cy="369332"/>
          </a:xfrm>
          <a:prstGeom prst="rect">
            <a:avLst/>
          </a:prstGeom>
          <a:noFill/>
        </p:spPr>
        <p:txBody>
          <a:bodyPr wrap="square" rtlCol="0">
            <a:spAutoFit/>
          </a:bodyPr>
          <a:lstStyle/>
          <a:p>
            <a:pPr algn="ctr"/>
            <a:r>
              <a:rPr lang="fr-FR" b="1" noProof="1"/>
              <a:t>x</a:t>
            </a:r>
            <a:r>
              <a:rPr lang="fr-FR" noProof="1"/>
              <a:t> and </a:t>
            </a:r>
            <a:r>
              <a:rPr lang="fr-FR" b="1" noProof="1"/>
              <a:t>y</a:t>
            </a:r>
            <a:r>
              <a:rPr lang="fr-FR" noProof="1"/>
              <a:t> </a:t>
            </a:r>
          </a:p>
        </p:txBody>
      </p:sp>
      <p:sp>
        <p:nvSpPr>
          <p:cNvPr id="11" name="ZoneTexte 10">
            <a:extLst>
              <a:ext uri="{FF2B5EF4-FFF2-40B4-BE49-F238E27FC236}">
                <a16:creationId xmlns:a16="http://schemas.microsoft.com/office/drawing/2014/main" id="{58973FB7-58D8-6F94-AAC8-586F8DEBDFA4}"/>
              </a:ext>
            </a:extLst>
          </p:cNvPr>
          <p:cNvSpPr txBox="1"/>
          <p:nvPr/>
        </p:nvSpPr>
        <p:spPr>
          <a:xfrm>
            <a:off x="4637891" y="4940359"/>
            <a:ext cx="3752435" cy="369332"/>
          </a:xfrm>
          <a:prstGeom prst="rect">
            <a:avLst/>
          </a:prstGeom>
          <a:noFill/>
        </p:spPr>
        <p:txBody>
          <a:bodyPr wrap="square" rtlCol="0">
            <a:spAutoFit/>
          </a:bodyPr>
          <a:lstStyle/>
          <a:p>
            <a:pPr algn="ctr"/>
            <a:r>
              <a:rPr lang="fr-FR" b="1" noProof="1"/>
              <a:t>color</a:t>
            </a:r>
            <a:r>
              <a:rPr lang="fr-FR" noProof="1"/>
              <a:t>,</a:t>
            </a:r>
            <a:r>
              <a:rPr lang="fr-FR" b="1" noProof="1"/>
              <a:t> size</a:t>
            </a:r>
            <a:r>
              <a:rPr lang="fr-FR" noProof="1"/>
              <a:t>,</a:t>
            </a:r>
            <a:r>
              <a:rPr lang="fr-FR" b="1" noProof="1"/>
              <a:t> shape</a:t>
            </a:r>
            <a:r>
              <a:rPr lang="fr-FR" noProof="1"/>
              <a:t>,</a:t>
            </a:r>
            <a:r>
              <a:rPr lang="fr-FR" b="1" noProof="1"/>
              <a:t> alpha</a:t>
            </a:r>
            <a:r>
              <a:rPr lang="fr-FR" noProof="1"/>
              <a:t>,</a:t>
            </a:r>
            <a:r>
              <a:rPr lang="fr-FR" b="1" noProof="1"/>
              <a:t> …</a:t>
            </a:r>
            <a:endParaRPr lang="fr-FR" noProof="1"/>
          </a:p>
        </p:txBody>
      </p:sp>
    </p:spTree>
    <p:extLst>
      <p:ext uri="{BB962C8B-B14F-4D97-AF65-F5344CB8AC3E}">
        <p14:creationId xmlns:p14="http://schemas.microsoft.com/office/powerpoint/2010/main" val="1653581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67D7E-007B-B431-F493-928BC72EB0D6}"/>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94C3CA20-F936-99BE-96AC-8699A7A1F770}"/>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Optional Aesthetics</a:t>
            </a:r>
          </a:p>
        </p:txBody>
      </p:sp>
      <p:pic>
        <p:nvPicPr>
          <p:cNvPr id="1026" name="Picture 2">
            <a:extLst>
              <a:ext uri="{FF2B5EF4-FFF2-40B4-BE49-F238E27FC236}">
                <a16:creationId xmlns:a16="http://schemas.microsoft.com/office/drawing/2014/main" id="{E84C6D3A-9F63-1F77-531D-5B6DF27004C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0AE1A3C6-39A4-D864-67AE-71BBCC70368B}"/>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13" name="ZoneTexte 12">
            <a:extLst>
              <a:ext uri="{FF2B5EF4-FFF2-40B4-BE49-F238E27FC236}">
                <a16:creationId xmlns:a16="http://schemas.microsoft.com/office/drawing/2014/main" id="{361FA370-2857-209E-07C2-97CF36BED60B}"/>
              </a:ext>
            </a:extLst>
          </p:cNvPr>
          <p:cNvSpPr txBox="1"/>
          <p:nvPr/>
        </p:nvSpPr>
        <p:spPr>
          <a:xfrm>
            <a:off x="677589" y="1153560"/>
            <a:ext cx="10589756" cy="707886"/>
          </a:xfrm>
          <a:prstGeom prst="rect">
            <a:avLst/>
          </a:prstGeom>
          <a:noFill/>
        </p:spPr>
        <p:txBody>
          <a:bodyPr wrap="square" rtlCol="0">
            <a:spAutoFit/>
          </a:bodyPr>
          <a:lstStyle/>
          <a:p>
            <a:pPr algn="just"/>
            <a:r>
              <a:rPr lang="fr-FR" sz="2000" noProof="1"/>
              <a:t>Setting optional aesthetics works exactly like the required aesthetics, the only different being that we could leave them out if we wanted.</a:t>
            </a:r>
          </a:p>
        </p:txBody>
      </p:sp>
      <p:sp>
        <p:nvSpPr>
          <p:cNvPr id="3" name="ZoneTexte 2">
            <a:extLst>
              <a:ext uri="{FF2B5EF4-FFF2-40B4-BE49-F238E27FC236}">
                <a16:creationId xmlns:a16="http://schemas.microsoft.com/office/drawing/2014/main" id="{7BED101C-281D-59AC-14B5-67391990F2B6}"/>
              </a:ext>
            </a:extLst>
          </p:cNvPr>
          <p:cNvSpPr txBox="1"/>
          <p:nvPr/>
        </p:nvSpPr>
        <p:spPr>
          <a:xfrm>
            <a:off x="1026613" y="2598003"/>
            <a:ext cx="9891707" cy="830997"/>
          </a:xfrm>
          <a:prstGeom prst="rect">
            <a:avLst/>
          </a:prstGeom>
          <a:noFill/>
        </p:spPr>
        <p:txBody>
          <a:bodyPr wrap="square" rtlCol="0">
            <a:spAutoFit/>
          </a:bodyPr>
          <a:lstStyle/>
          <a:p>
            <a:r>
              <a:rPr lang="fr-FR" sz="2400" noProof="1">
                <a:solidFill>
                  <a:schemeClr val="accent4">
                    <a:lumMod val="75000"/>
                  </a:schemeClr>
                </a:solidFill>
              </a:rPr>
              <a:t>(ggplot(food) +</a:t>
            </a:r>
          </a:p>
          <a:p>
            <a:r>
              <a:rPr lang="fr-FR" sz="2400" noProof="1">
                <a:solidFill>
                  <a:schemeClr val="accent4">
                    <a:lumMod val="75000"/>
                  </a:schemeClr>
                </a:solidFill>
              </a:rPr>
              <a:t>    </a:t>
            </a:r>
            <a:r>
              <a:rPr lang="fr-FR" sz="2400" noProof="1">
                <a:solidFill>
                  <a:schemeClr val="accent5">
                    <a:lumMod val="75000"/>
                  </a:schemeClr>
                </a:solidFill>
              </a:rPr>
              <a:t>geom_point(</a:t>
            </a:r>
            <a:r>
              <a:rPr lang="fr-FR" sz="2400" noProof="1">
                <a:solidFill>
                  <a:schemeClr val="accent6">
                    <a:lumMod val="75000"/>
                  </a:schemeClr>
                </a:solidFill>
              </a:rPr>
              <a:t>aes(x = "calories", y = "total_fat", color = "food_group")</a:t>
            </a:r>
            <a:r>
              <a:rPr lang="fr-FR" sz="2400" noProof="1">
                <a:solidFill>
                  <a:schemeClr val="accent5">
                    <a:lumMod val="75000"/>
                  </a:schemeClr>
                </a:solidFill>
              </a:rPr>
              <a:t>)</a:t>
            </a:r>
            <a:r>
              <a:rPr lang="fr-FR" sz="2400" noProof="1">
                <a:solidFill>
                  <a:schemeClr val="accent4">
                    <a:lumMod val="75000"/>
                  </a:schemeClr>
                </a:solidFill>
              </a:rPr>
              <a:t>)</a:t>
            </a:r>
          </a:p>
        </p:txBody>
      </p:sp>
    </p:spTree>
    <p:extLst>
      <p:ext uri="{BB962C8B-B14F-4D97-AF65-F5344CB8AC3E}">
        <p14:creationId xmlns:p14="http://schemas.microsoft.com/office/powerpoint/2010/main" val="1901775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610FD-924E-4DF1-4551-C5BD7EB47BB9}"/>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EE413E9E-ED13-8011-5CCB-A628C00CB333}"/>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Fixed Aesthetics</a:t>
            </a:r>
          </a:p>
        </p:txBody>
      </p:sp>
      <p:pic>
        <p:nvPicPr>
          <p:cNvPr id="1026" name="Picture 2">
            <a:extLst>
              <a:ext uri="{FF2B5EF4-FFF2-40B4-BE49-F238E27FC236}">
                <a16:creationId xmlns:a16="http://schemas.microsoft.com/office/drawing/2014/main" id="{A70B97CC-3A3D-EB64-4CA4-BB9080EB11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A9C43D36-E7F4-7759-9D36-1A519402A252}"/>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A0A5A793-804A-F1A8-28A0-7B47DF3AA86F}"/>
              </a:ext>
            </a:extLst>
          </p:cNvPr>
          <p:cNvSpPr txBox="1"/>
          <p:nvPr/>
        </p:nvSpPr>
        <p:spPr>
          <a:xfrm>
            <a:off x="677589" y="1110481"/>
            <a:ext cx="10589756" cy="1938992"/>
          </a:xfrm>
          <a:prstGeom prst="rect">
            <a:avLst/>
          </a:prstGeom>
          <a:noFill/>
        </p:spPr>
        <p:txBody>
          <a:bodyPr wrap="square" rtlCol="0">
            <a:spAutoFit/>
          </a:bodyPr>
          <a:lstStyle/>
          <a:p>
            <a:pPr algn="just"/>
            <a:r>
              <a:rPr lang="fr-FR" sz="2000" noProof="1"/>
              <a:t>Also, for any aesthetic we can specify a specific </a:t>
            </a:r>
            <a:r>
              <a:rPr lang="fr-FR" sz="2000" b="1" noProof="1"/>
              <a:t>fixed value </a:t>
            </a:r>
            <a:r>
              <a:rPr lang="fr-FR" sz="2000" noProof="1"/>
              <a:t>for all of the data in place of describing a column in the dataset. This is what is done internally for all of the optional aesthetics. For example, in geom_point color is set to "black" and size is set to 1.</a:t>
            </a:r>
          </a:p>
          <a:p>
            <a:pPr algn="just"/>
            <a:endParaRPr lang="fr-FR" sz="2000" noProof="1"/>
          </a:p>
          <a:p>
            <a:pPr algn="just"/>
            <a:r>
              <a:rPr lang="fr-FR" sz="2000" noProof="1"/>
              <a:t>The code for this requires a slightly different synax. The fixed aesthetic goes outside of the aes function:</a:t>
            </a:r>
          </a:p>
        </p:txBody>
      </p:sp>
      <p:sp>
        <p:nvSpPr>
          <p:cNvPr id="3" name="ZoneTexte 2">
            <a:extLst>
              <a:ext uri="{FF2B5EF4-FFF2-40B4-BE49-F238E27FC236}">
                <a16:creationId xmlns:a16="http://schemas.microsoft.com/office/drawing/2014/main" id="{70575820-A814-BBF0-0BC3-4199A2CC1CAC}"/>
              </a:ext>
            </a:extLst>
          </p:cNvPr>
          <p:cNvSpPr txBox="1"/>
          <p:nvPr/>
        </p:nvSpPr>
        <p:spPr>
          <a:xfrm>
            <a:off x="1773306" y="3285307"/>
            <a:ext cx="8894694" cy="830997"/>
          </a:xfrm>
          <a:prstGeom prst="rect">
            <a:avLst/>
          </a:prstGeom>
          <a:noFill/>
        </p:spPr>
        <p:txBody>
          <a:bodyPr wrap="square" rtlCol="0">
            <a:spAutoFit/>
          </a:bodyPr>
          <a:lstStyle/>
          <a:p>
            <a:r>
              <a:rPr lang="fr-FR" sz="2400" noProof="1">
                <a:solidFill>
                  <a:schemeClr val="accent4">
                    <a:lumMod val="75000"/>
                  </a:schemeClr>
                </a:solidFill>
              </a:rPr>
              <a:t>(ggplot(food) +</a:t>
            </a:r>
          </a:p>
          <a:p>
            <a:r>
              <a:rPr lang="fr-FR" sz="2400" noProof="1">
                <a:solidFill>
                  <a:schemeClr val="accent4">
                    <a:lumMod val="75000"/>
                  </a:schemeClr>
                </a:solidFill>
              </a:rPr>
              <a:t>    </a:t>
            </a:r>
            <a:r>
              <a:rPr lang="fr-FR" sz="2400" noProof="1">
                <a:solidFill>
                  <a:schemeClr val="accent5">
                    <a:lumMod val="75000"/>
                  </a:schemeClr>
                </a:solidFill>
              </a:rPr>
              <a:t>geom_point(</a:t>
            </a:r>
            <a:r>
              <a:rPr lang="fr-FR" sz="2400" noProof="1">
                <a:solidFill>
                  <a:schemeClr val="accent6">
                    <a:lumMod val="75000"/>
                  </a:schemeClr>
                </a:solidFill>
              </a:rPr>
              <a:t>aes(x = "calories", y = "total_fat")</a:t>
            </a:r>
            <a:r>
              <a:rPr lang="fr-FR" sz="2400" noProof="1">
                <a:solidFill>
                  <a:schemeClr val="accent5">
                    <a:lumMod val="75000"/>
                  </a:schemeClr>
                </a:solidFill>
              </a:rPr>
              <a:t>, color = "green")</a:t>
            </a:r>
            <a:r>
              <a:rPr lang="fr-FR" sz="2400" noProof="1">
                <a:solidFill>
                  <a:schemeClr val="accent4">
                    <a:lumMod val="75000"/>
                  </a:schemeClr>
                </a:solidFill>
              </a:rPr>
              <a:t>)</a:t>
            </a:r>
          </a:p>
        </p:txBody>
      </p:sp>
      <p:sp>
        <p:nvSpPr>
          <p:cNvPr id="6" name="ZoneTexte 5">
            <a:extLst>
              <a:ext uri="{FF2B5EF4-FFF2-40B4-BE49-F238E27FC236}">
                <a16:creationId xmlns:a16="http://schemas.microsoft.com/office/drawing/2014/main" id="{355CE0AE-0DEB-EC81-007C-9500450D245C}"/>
              </a:ext>
            </a:extLst>
          </p:cNvPr>
          <p:cNvSpPr txBox="1"/>
          <p:nvPr/>
        </p:nvSpPr>
        <p:spPr>
          <a:xfrm>
            <a:off x="677589" y="4659914"/>
            <a:ext cx="10589756" cy="707886"/>
          </a:xfrm>
          <a:prstGeom prst="rect">
            <a:avLst/>
          </a:prstGeom>
          <a:noFill/>
        </p:spPr>
        <p:txBody>
          <a:bodyPr wrap="square" rtlCol="0">
            <a:spAutoFit/>
          </a:bodyPr>
          <a:lstStyle/>
          <a:p>
            <a:pPr algn="just"/>
            <a:r>
              <a:rPr lang="fr-FR" sz="2000" noProof="1"/>
              <a:t>Note that when setting a numeric aesthetic such as size, we need to use the number without quotes around it.</a:t>
            </a:r>
          </a:p>
        </p:txBody>
      </p:sp>
    </p:spTree>
    <p:extLst>
      <p:ext uri="{BB962C8B-B14F-4D97-AF65-F5344CB8AC3E}">
        <p14:creationId xmlns:p14="http://schemas.microsoft.com/office/powerpoint/2010/main" val="3901572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7172C-FEAA-28DC-30EB-35B81D07BD46}"/>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719760D2-E68B-1601-10D5-2C50254ED2D4}"/>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Scales</a:t>
            </a:r>
          </a:p>
        </p:txBody>
      </p:sp>
      <p:pic>
        <p:nvPicPr>
          <p:cNvPr id="1026" name="Picture 2">
            <a:extLst>
              <a:ext uri="{FF2B5EF4-FFF2-40B4-BE49-F238E27FC236}">
                <a16:creationId xmlns:a16="http://schemas.microsoft.com/office/drawing/2014/main" id="{43D68487-1367-765E-C4CE-9AAB3FF15E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E1231927-E4A2-9A56-236F-19DFF3D7394A}"/>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36D02FF0-23B9-558A-FD19-B07AFE2B7FEB}"/>
              </a:ext>
            </a:extLst>
          </p:cNvPr>
          <p:cNvSpPr txBox="1"/>
          <p:nvPr/>
        </p:nvSpPr>
        <p:spPr>
          <a:xfrm>
            <a:off x="801121" y="1856716"/>
            <a:ext cx="10589756" cy="2862322"/>
          </a:xfrm>
          <a:prstGeom prst="rect">
            <a:avLst/>
          </a:prstGeom>
          <a:noFill/>
        </p:spPr>
        <p:txBody>
          <a:bodyPr wrap="square" rtlCol="0">
            <a:spAutoFit/>
          </a:bodyPr>
          <a:lstStyle/>
          <a:p>
            <a:pPr algn="just"/>
            <a:r>
              <a:rPr lang="fr-FR" sz="2000" noProof="1"/>
              <a:t>One great thing about the grammar of graphics is that it allows us to stay in the abstract level where we can define the correspondence between elements of the plot and variables in our dataset. The software handles thigns such as the assigning of which color is associated with each category and where the axes should start and where the labels should go on them.</a:t>
            </a:r>
          </a:p>
          <a:p>
            <a:pPr algn="just"/>
            <a:endParaRPr lang="fr-FR" sz="2000" noProof="1"/>
          </a:p>
          <a:p>
            <a:pPr algn="just"/>
            <a:r>
              <a:rPr lang="fr-FR" sz="2000" noProof="1"/>
              <a:t>The element of the grammar of graphics that handles the translation from the data to the actual visual elements are called </a:t>
            </a:r>
            <a:r>
              <a:rPr lang="fr-FR" sz="2000" b="1" noProof="1"/>
              <a:t>scales</a:t>
            </a:r>
            <a:r>
              <a:rPr lang="fr-FR" sz="2000" noProof="1"/>
              <a:t>. Default scales exist for every geometry and will be used out-of-the-box. We can customize the scales used in the plot by selecting one and adding it inside of the ggplot code block.</a:t>
            </a:r>
          </a:p>
        </p:txBody>
      </p:sp>
    </p:spTree>
    <p:extLst>
      <p:ext uri="{BB962C8B-B14F-4D97-AF65-F5344CB8AC3E}">
        <p14:creationId xmlns:p14="http://schemas.microsoft.com/office/powerpoint/2010/main" val="9769984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B8609-390A-0496-31EA-23E1D6B286F0}"/>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D357654C-593F-CC10-117A-2AB5C1C6F477}"/>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Scales</a:t>
            </a:r>
          </a:p>
        </p:txBody>
      </p:sp>
      <p:pic>
        <p:nvPicPr>
          <p:cNvPr id="1026" name="Picture 2">
            <a:extLst>
              <a:ext uri="{FF2B5EF4-FFF2-40B4-BE49-F238E27FC236}">
                <a16:creationId xmlns:a16="http://schemas.microsoft.com/office/drawing/2014/main" id="{C569BF0A-74B3-3ABD-87E1-DD00837F01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0ECDA5F5-80BC-ACE1-B802-255DAECCD1E0}"/>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DBA73748-F98F-AE71-5052-C65539896BDF}"/>
              </a:ext>
            </a:extLst>
          </p:cNvPr>
          <p:cNvSpPr txBox="1"/>
          <p:nvPr/>
        </p:nvSpPr>
        <p:spPr>
          <a:xfrm>
            <a:off x="677589" y="1133762"/>
            <a:ext cx="10589756" cy="400110"/>
          </a:xfrm>
          <a:prstGeom prst="rect">
            <a:avLst/>
          </a:prstGeom>
          <a:noFill/>
        </p:spPr>
        <p:txBody>
          <a:bodyPr wrap="square" rtlCol="0">
            <a:spAutoFit/>
          </a:bodyPr>
          <a:lstStyle/>
          <a:p>
            <a:pPr algn="just"/>
            <a:r>
              <a:rPr lang="fr-FR" sz="2000" noProof="1"/>
              <a:t>Here is an example of changing the color scale used in one of the plots from the notes: </a:t>
            </a:r>
          </a:p>
        </p:txBody>
      </p:sp>
      <p:sp>
        <p:nvSpPr>
          <p:cNvPr id="3" name="ZoneTexte 2">
            <a:extLst>
              <a:ext uri="{FF2B5EF4-FFF2-40B4-BE49-F238E27FC236}">
                <a16:creationId xmlns:a16="http://schemas.microsoft.com/office/drawing/2014/main" id="{93836CF8-CDFE-9D2D-12D9-B3F04CAB436A}"/>
              </a:ext>
            </a:extLst>
          </p:cNvPr>
          <p:cNvSpPr txBox="1"/>
          <p:nvPr/>
        </p:nvSpPr>
        <p:spPr>
          <a:xfrm>
            <a:off x="677589" y="2312302"/>
            <a:ext cx="11304204" cy="1015663"/>
          </a:xfrm>
          <a:prstGeom prst="rect">
            <a:avLst/>
          </a:prstGeom>
          <a:noFill/>
        </p:spPr>
        <p:txBody>
          <a:bodyPr wrap="square" rtlCol="0">
            <a:spAutoFit/>
          </a:bodyPr>
          <a:lstStyle/>
          <a:p>
            <a:r>
              <a:rPr lang="fr-FR" sz="2000" noProof="1">
                <a:solidFill>
                  <a:schemeClr val="accent4">
                    <a:lumMod val="75000"/>
                  </a:schemeClr>
                </a:solidFill>
                <a:latin typeface="Menlo" panose="020B0609030804020204" pitchFamily="49" charset="0"/>
                <a:ea typeface="Menlo" panose="020B0609030804020204" pitchFamily="49" charset="0"/>
                <a:cs typeface="Menlo" panose="020B0609030804020204" pitchFamily="49" charset="0"/>
              </a:rPr>
              <a:t>(ggplot(cbsa) +</a:t>
            </a:r>
          </a:p>
          <a:p>
            <a:r>
              <a:rPr lang="fr-FR" sz="2000" noProof="1">
                <a:solidFill>
                  <a:schemeClr val="accent4">
                    <a:lumMod val="75000"/>
                  </a:schemeClr>
                </a:solidFill>
                <a:latin typeface="Menlo" panose="020B0609030804020204" pitchFamily="49" charset="0"/>
                <a:ea typeface="Menlo" panose="020B0609030804020204" pitchFamily="49" charset="0"/>
                <a:cs typeface="Menlo" panose="020B0609030804020204" pitchFamily="49" charset="0"/>
              </a:rPr>
              <a:t>    geom_point(aes(x='density', y='rent_1br_median', color='quad')) +</a:t>
            </a:r>
          </a:p>
          <a:p>
            <a:r>
              <a:rPr lang="fr-FR" sz="2000" noProof="1">
                <a:solidFill>
                  <a:schemeClr val="accent4">
                    <a:lumMod val="75000"/>
                  </a:schemeClr>
                </a:solidFill>
                <a:latin typeface="Menlo" panose="020B0609030804020204" pitchFamily="49" charset="0"/>
                <a:ea typeface="Menlo" panose="020B0609030804020204" pitchFamily="49" charset="0"/>
                <a:cs typeface="Menlo" panose="020B0609030804020204" pitchFamily="49" charset="0"/>
              </a:rPr>
              <a:t>    </a:t>
            </a:r>
            <a:r>
              <a:rPr lang="fr-FR" sz="2000" noProof="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scale_color_cmap_d()</a:t>
            </a:r>
            <a:r>
              <a:rPr lang="fr-FR" sz="2000" noProof="1">
                <a:solidFill>
                  <a:schemeClr val="accent4">
                    <a:lumMod val="75000"/>
                  </a:schemeClr>
                </a:solidFill>
                <a:latin typeface="Menlo" panose="020B0609030804020204" pitchFamily="49" charset="0"/>
                <a:ea typeface="Menlo" panose="020B0609030804020204" pitchFamily="49" charset="0"/>
                <a:cs typeface="Menlo" panose="020B0609030804020204" pitchFamily="49" charset="0"/>
              </a:rPr>
              <a:t>)</a:t>
            </a:r>
          </a:p>
        </p:txBody>
      </p:sp>
      <p:sp>
        <p:nvSpPr>
          <p:cNvPr id="4" name="ZoneTexte 3">
            <a:extLst>
              <a:ext uri="{FF2B5EF4-FFF2-40B4-BE49-F238E27FC236}">
                <a16:creationId xmlns:a16="http://schemas.microsoft.com/office/drawing/2014/main" id="{65D818F8-7BA9-84BC-8938-54DDC4DF7A68}"/>
              </a:ext>
            </a:extLst>
          </p:cNvPr>
          <p:cNvSpPr txBox="1"/>
          <p:nvPr/>
        </p:nvSpPr>
        <p:spPr>
          <a:xfrm>
            <a:off x="677589" y="3955790"/>
            <a:ext cx="10589756" cy="1015663"/>
          </a:xfrm>
          <a:prstGeom prst="rect">
            <a:avLst/>
          </a:prstGeom>
          <a:noFill/>
        </p:spPr>
        <p:txBody>
          <a:bodyPr wrap="square" rtlCol="0">
            <a:spAutoFit/>
          </a:bodyPr>
          <a:lstStyle/>
          <a:p>
            <a:pPr algn="just"/>
            <a:r>
              <a:rPr lang="fr-FR" sz="2000" noProof="1"/>
              <a:t>It’s a common error to think that we add a scale to incorporate color into the plot. That’s not how it works! Color (and all aesthetics) get added within the geometry object. Scales only modify the aesthetics that we have already added above.</a:t>
            </a:r>
            <a:endParaRPr lang="fr-FR" sz="2000" b="1" noProof="1"/>
          </a:p>
        </p:txBody>
      </p:sp>
    </p:spTree>
    <p:extLst>
      <p:ext uri="{BB962C8B-B14F-4D97-AF65-F5344CB8AC3E}">
        <p14:creationId xmlns:p14="http://schemas.microsoft.com/office/powerpoint/2010/main" val="10613372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E2DE4-9FCD-A2A4-C161-14B1A5239841}"/>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57AF1C1B-02B8-6D37-E923-2444D53DF11B}"/>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Advice for Graphics</a:t>
            </a:r>
          </a:p>
        </p:txBody>
      </p:sp>
      <p:pic>
        <p:nvPicPr>
          <p:cNvPr id="1026" name="Picture 2">
            <a:extLst>
              <a:ext uri="{FF2B5EF4-FFF2-40B4-BE49-F238E27FC236}">
                <a16:creationId xmlns:a16="http://schemas.microsoft.com/office/drawing/2014/main" id="{58EBC949-EB08-BC71-4235-5FA1F2E5E0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2F8E61F7-BA3D-261B-54A2-7E46669E0E2F}"/>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5BC35DE3-5494-34B6-7F6E-99AFE800108C}"/>
              </a:ext>
            </a:extLst>
          </p:cNvPr>
          <p:cNvSpPr txBox="1"/>
          <p:nvPr/>
        </p:nvSpPr>
        <p:spPr>
          <a:xfrm>
            <a:off x="677589" y="1133762"/>
            <a:ext cx="10589756" cy="4708981"/>
          </a:xfrm>
          <a:prstGeom prst="rect">
            <a:avLst/>
          </a:prstGeom>
          <a:noFill/>
        </p:spPr>
        <p:txBody>
          <a:bodyPr wrap="square" rtlCol="0">
            <a:spAutoFit/>
          </a:bodyPr>
          <a:lstStyle/>
          <a:p>
            <a:pPr algn="just"/>
            <a:r>
              <a:rPr lang="fr-FR" sz="2000" noProof="1"/>
              <a:t>As we continue working with data graphics this semester, keep the following things in mind. They will really help avoid errors and frustration!</a:t>
            </a:r>
          </a:p>
          <a:p>
            <a:pPr algn="just"/>
            <a:endParaRPr lang="fr-FR" sz="2000" noProof="1"/>
          </a:p>
          <a:p>
            <a:pPr lvl="1" algn="just"/>
            <a:r>
              <a:rPr lang="fr-FR" sz="2000" noProof="1"/>
              <a:t>– </a:t>
            </a:r>
            <a:r>
              <a:rPr lang="fr-FR" sz="2000" b="1" noProof="1"/>
              <a:t>Formatting: </a:t>
            </a:r>
            <a:r>
              <a:rPr lang="fr-FR" sz="2000" noProof="1"/>
              <a:t>Always put each outer function (ggplot, geom_, or scale_) on its own line and indent all but the first line by four spaces.</a:t>
            </a:r>
          </a:p>
          <a:p>
            <a:pPr lvl="1" algn="just"/>
            <a:r>
              <a:rPr lang="fr-FR" sz="2000" noProof="1"/>
              <a:t>– </a:t>
            </a:r>
            <a:r>
              <a:rPr lang="fr-FR" sz="2000" b="1" noProof="1"/>
              <a:t>Copying Code: </a:t>
            </a:r>
            <a:r>
              <a:rPr lang="fr-FR" sz="2000" noProof="1"/>
              <a:t>Copy code from the notes and solutions is a good approach, particularly when you are just getting started or learning something new. However, I strongly recommend copying single ggplot, geom_ and scale_ functions rather than the entire block unless you really want to replicate a larger plot almost as-is.</a:t>
            </a:r>
          </a:p>
          <a:p>
            <a:pPr lvl="1" algn="just"/>
            <a:r>
              <a:rPr lang="fr-FR" sz="2000" b="1" noProof="1"/>
              <a:t> </a:t>
            </a:r>
            <a:r>
              <a:rPr lang="fr-FR" sz="2000" noProof="1"/>
              <a:t>– </a:t>
            </a:r>
            <a:r>
              <a:rPr lang="fr-FR" sz="2000" b="1" noProof="1"/>
              <a:t>Working through Notebooks</a:t>
            </a:r>
            <a:r>
              <a:rPr lang="fr-FR" sz="2000" noProof="1"/>
              <a:t>: It’s always better to copy and edit code that you have already written in the notebook than going back to the notes. You’ll already have made many of the changes that you need for the specific dataset we are working on.</a:t>
            </a:r>
          </a:p>
          <a:p>
            <a:pPr lvl="1" algn="just"/>
            <a:r>
              <a:rPr lang="fr-FR" sz="2000" noProof="1"/>
              <a:t>– </a:t>
            </a:r>
            <a:r>
              <a:rPr lang="fr-FR" sz="2000" b="1" noProof="1"/>
              <a:t>When you are stuck</a:t>
            </a:r>
            <a:r>
              <a:rPr lang="fr-FR" sz="2000" noProof="1"/>
              <a:t>: If you get yourself really stuck on a question (in addition to asking for help with is always okay!), try to erase your block of code and start from scratchf.</a:t>
            </a:r>
          </a:p>
          <a:p>
            <a:pPr algn="just"/>
            <a:endParaRPr lang="fr-FR" sz="2000" noProof="1"/>
          </a:p>
        </p:txBody>
      </p:sp>
    </p:spTree>
    <p:extLst>
      <p:ext uri="{BB962C8B-B14F-4D97-AF65-F5344CB8AC3E}">
        <p14:creationId xmlns:p14="http://schemas.microsoft.com/office/powerpoint/2010/main" val="2334419569"/>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355</TotalTime>
  <Words>821</Words>
  <Application>Microsoft Macintosh PowerPoint</Application>
  <PresentationFormat>Grand écran</PresentationFormat>
  <Paragraphs>49</Paragraphs>
  <Slides>7</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7</vt:i4>
      </vt:variant>
    </vt:vector>
  </HeadingPairs>
  <TitlesOfParts>
    <vt:vector size="12" baseType="lpstr">
      <vt:lpstr>Arial</vt:lpstr>
      <vt:lpstr>Calibri</vt:lpstr>
      <vt:lpstr>Calibri Light</vt:lpstr>
      <vt:lpstr>Menlo</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Arnold, Taylor</dc:creator>
  <cp:lastModifiedBy>Arnold, Taylor</cp:lastModifiedBy>
  <cp:revision>36</cp:revision>
  <dcterms:created xsi:type="dcterms:W3CDTF">2021-04-28T17:57:29Z</dcterms:created>
  <dcterms:modified xsi:type="dcterms:W3CDTF">2025-09-03T14:55:49Z</dcterms:modified>
</cp:coreProperties>
</file>