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5" r:id="rId2"/>
    <p:sldId id="284" r:id="rId3"/>
    <p:sldId id="264" r:id="rId4"/>
    <p:sldId id="257" r:id="rId5"/>
    <p:sldId id="256" r:id="rId6"/>
    <p:sldId id="258" r:id="rId7"/>
    <p:sldId id="259" r:id="rId8"/>
    <p:sldId id="260" r:id="rId9"/>
    <p:sldId id="266" r:id="rId10"/>
    <p:sldId id="269" r:id="rId11"/>
    <p:sldId id="261" r:id="rId12"/>
    <p:sldId id="267" r:id="rId13"/>
    <p:sldId id="268" r:id="rId14"/>
    <p:sldId id="262" r:id="rId15"/>
    <p:sldId id="263" r:id="rId16"/>
    <p:sldId id="285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6" r:id="rId32"/>
    <p:sldId id="287" r:id="rId33"/>
    <p:sldId id="289" r:id="rId34"/>
    <p:sldId id="288" r:id="rId35"/>
    <p:sldId id="308" r:id="rId36"/>
    <p:sldId id="290" r:id="rId37"/>
    <p:sldId id="309" r:id="rId38"/>
    <p:sldId id="291" r:id="rId39"/>
    <p:sldId id="310" r:id="rId40"/>
    <p:sldId id="292" r:id="rId41"/>
    <p:sldId id="311" r:id="rId42"/>
    <p:sldId id="293" r:id="rId43"/>
    <p:sldId id="312" r:id="rId44"/>
    <p:sldId id="294" r:id="rId45"/>
    <p:sldId id="313" r:id="rId46"/>
    <p:sldId id="295" r:id="rId47"/>
    <p:sldId id="314" r:id="rId48"/>
    <p:sldId id="296" r:id="rId49"/>
    <p:sldId id="315" r:id="rId50"/>
    <p:sldId id="297" r:id="rId51"/>
    <p:sldId id="316" r:id="rId52"/>
    <p:sldId id="298" r:id="rId53"/>
    <p:sldId id="317" r:id="rId54"/>
    <p:sldId id="299" r:id="rId55"/>
    <p:sldId id="318" r:id="rId56"/>
    <p:sldId id="300" r:id="rId57"/>
    <p:sldId id="319" r:id="rId58"/>
    <p:sldId id="304" r:id="rId59"/>
    <p:sldId id="320" r:id="rId60"/>
    <p:sldId id="301" r:id="rId61"/>
    <p:sldId id="321" r:id="rId62"/>
    <p:sldId id="302" r:id="rId63"/>
    <p:sldId id="322" r:id="rId64"/>
    <p:sldId id="303" r:id="rId65"/>
    <p:sldId id="323" r:id="rId66"/>
    <p:sldId id="305" r:id="rId67"/>
    <p:sldId id="324" r:id="rId68"/>
    <p:sldId id="306" r:id="rId69"/>
    <p:sldId id="325" r:id="rId70"/>
    <p:sldId id="307" r:id="rId71"/>
    <p:sldId id="326" r:id="rId72"/>
    <p:sldId id="327" r:id="rId73"/>
    <p:sldId id="328" r:id="rId74"/>
    <p:sldId id="329" r:id="rId75"/>
    <p:sldId id="330" r:id="rId76"/>
    <p:sldId id="331" r:id="rId77"/>
    <p:sldId id="332" r:id="rId7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0"/>
    <p:restoredTop sz="94694"/>
  </p:normalViewPr>
  <p:slideViewPr>
    <p:cSldViewPr snapToGrid="0">
      <p:cViewPr varScale="1">
        <p:scale>
          <a:sx n="121" d="100"/>
          <a:sy n="121" d="100"/>
        </p:scale>
        <p:origin x="32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49B098A-082F-DB37-8A59-5FA462DEC9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BE7BD27-B8DC-8A1E-20DE-E1A5C52895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6A851EE-1AAA-DA8C-2DFC-A794D77F3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6FD97-06DD-F440-872A-88DBAAB42D3E}" type="datetimeFigureOut">
              <a:rPr lang="fr-FR" smtClean="0"/>
              <a:t>19/10/2025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D028F13-DCAE-4AC1-EE79-FDAD71AD6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EB51CE4-2BDE-8AC8-0424-5B59B1B07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1D1B0-E35F-CB44-B631-798C29CF5D6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548352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0756300-B2EF-B63D-BB39-846B1C91B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44A42C9-347F-F7F1-B2B7-CB13A095A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C33E6F1-BCCA-C8A6-B5B2-6C6F62022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6FD97-06DD-F440-872A-88DBAAB42D3E}" type="datetimeFigureOut">
              <a:rPr lang="fr-FR" smtClean="0"/>
              <a:t>19/10/2025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2E1DD82-DE9A-F426-05EF-04F41B29E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3FC89CB-E09C-DDA8-9DF0-4670EA9B0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1D1B0-E35F-CB44-B631-798C29CF5D6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38445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0F49678-321C-4B88-04F1-6817F2D06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F5FCF88-D30C-4CFA-DB51-14A217AC88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54FE59F-05A3-CD6F-74F0-0215728E3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6FD97-06DD-F440-872A-88DBAAB42D3E}" type="datetimeFigureOut">
              <a:rPr lang="fr-FR" smtClean="0"/>
              <a:t>19/10/2025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550D55E-10C2-1F59-0AB6-1EBCEBCAD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D032670-BF06-76BE-6F3E-99CF68787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1D1B0-E35F-CB44-B631-798C29CF5D6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018516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DBE3ACA-26E7-5EAF-3A01-BD6411975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1F5E49C-F817-E012-D93F-65281D98BE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0B8A5B3-620E-0036-AD25-F627F4CB3F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C6F7F49-E26A-A1A3-2399-C23D1D411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6FD97-06DD-F440-872A-88DBAAB42D3E}" type="datetimeFigureOut">
              <a:rPr lang="fr-FR" smtClean="0"/>
              <a:t>19/10/2025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F420163-F894-427B-15AC-085F49AC1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B1D1E6C-B477-FC60-2710-FBDD54F54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1D1B0-E35F-CB44-B631-798C29CF5D6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115096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BEE87B4-D8C0-684E-6778-1D9FE9F050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00512A8-97A8-8618-372F-BEB8A1714B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635B9F9-3894-C53F-BC7C-25A3B70785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C88031A9-999E-992E-60F1-4AD42C18D0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22ED5456-1823-B258-96D2-B483D12C44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0682F101-3521-F43E-353A-05A2992AD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6FD97-06DD-F440-872A-88DBAAB42D3E}" type="datetimeFigureOut">
              <a:rPr lang="fr-FR" smtClean="0"/>
              <a:t>19/10/2025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35270B13-22BF-7B34-B3B1-86A883CE1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B46DEB6D-A5D8-AD06-A4D4-1EC63434E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1D1B0-E35F-CB44-B631-798C29CF5D6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765339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E5E157D-166D-E9C8-E5EF-0A133BCCA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4D854EC4-6C49-FD45-F1BD-67089912EA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6FD97-06DD-F440-872A-88DBAAB42D3E}" type="datetimeFigureOut">
              <a:rPr lang="fr-FR" smtClean="0"/>
              <a:t>19/10/2025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7095697-8150-EB2F-1E6A-A2FC8D66C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6B8E5D2-A1CA-332B-4E75-60175BF62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1D1B0-E35F-CB44-B631-798C29CF5D6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195368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7446B405-9738-667F-7B45-1AF1EA06F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6FD97-06DD-F440-872A-88DBAAB42D3E}" type="datetimeFigureOut">
              <a:rPr lang="fr-FR" smtClean="0"/>
              <a:t>19/10/2025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7709A471-59BA-C795-2C9E-75BAEB947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8909A50-A469-1A4B-D5A8-D0BCD90BB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1D1B0-E35F-CB44-B631-798C29CF5D6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571213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AD3BFF6-0CCF-4E93-9CE7-403A7DB169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9A96E5F-9D0C-1B4B-CC43-E89E1880B4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2BA7B18-421C-741D-540F-BB0E7877CD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0C2D07A-66AD-24F5-45FC-0B95887D89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6FD97-06DD-F440-872A-88DBAAB42D3E}" type="datetimeFigureOut">
              <a:rPr lang="fr-FR" smtClean="0"/>
              <a:t>19/10/2025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E60193E-32CE-F6E8-4256-FF536C7F2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06EAFEC-371D-B23D-9D1F-CF0121D37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1D1B0-E35F-CB44-B631-798C29CF5D6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60188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5F8A605-1ACF-185C-5EC7-E8F68CBB9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2A72B598-8446-BF64-7840-A5B0E2A711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EE8CBF6-7D8C-6B62-8F53-752E672BC8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4132C12-20A5-1C49-D4C6-463E0D825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6FD97-06DD-F440-872A-88DBAAB42D3E}" type="datetimeFigureOut">
              <a:rPr lang="fr-FR" smtClean="0"/>
              <a:t>19/10/2025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8038012-E9F4-8DE3-06F2-E041AD448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1B52F0E-CEA4-C963-E2E9-683D863FF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1D1B0-E35F-CB44-B631-798C29CF5D6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749376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7CD70E2-DCD7-1A1E-5103-5DFABF743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2B560C9-F224-8B4B-3813-33A4549845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3AE7D30-795F-9E57-6396-6A70AAEEB2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6FD97-06DD-F440-872A-88DBAAB42D3E}" type="datetimeFigureOut">
              <a:rPr lang="fr-FR" smtClean="0"/>
              <a:t>19/10/2025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AD893DB-6773-4597-44BB-DE949D80D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F9BEFE4-917D-F9E8-09AD-96ADCDD37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1D1B0-E35F-CB44-B631-798C29CF5D6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202733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BDE53FBF-34B3-BD24-8A28-E4EAE5CA6B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6BD9F71-903B-933E-ADE0-9DEE1AFD87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FF4CB4D-6962-B760-F5C8-ED2733700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6FD97-06DD-F440-872A-88DBAAB42D3E}" type="datetimeFigureOut">
              <a:rPr lang="fr-FR" smtClean="0"/>
              <a:t>19/10/2025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D7251F5-83F4-99EC-ED23-3CCB54578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1B03DD3-7B47-0FCF-B785-565002A17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1D1B0-E35F-CB44-B631-798C29CF5D6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885504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22FB9F8E-0128-A316-EFDA-B94A46F5B4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B0193CD-B711-AF59-0B5C-B881CEACA7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C671316-6940-1CE0-5546-C31C2478DB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06FD97-06DD-F440-872A-88DBAAB42D3E}" type="datetimeFigureOut">
              <a:rPr lang="fr-FR" smtClean="0"/>
              <a:t>19/10/2025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DA15220-2DA6-78CE-A10E-E2591871CD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071F6CF-AE4F-40DC-6961-F437AFB50E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F1D1B0-E35F-CB44-B631-798C29CF5D6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45229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DA078A-0D06-0B57-8123-FC10030E4E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7133D0F6-57EB-745F-59FA-73844AA3DFF3}"/>
              </a:ext>
            </a:extLst>
          </p:cNvPr>
          <p:cNvSpPr txBox="1"/>
          <p:nvPr/>
        </p:nvSpPr>
        <p:spPr>
          <a:xfrm>
            <a:off x="1434662" y="1671145"/>
            <a:ext cx="9322676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noProof="0" dirty="0">
                <a:solidFill>
                  <a:schemeClr val="accent5">
                    <a:lumMod val="75000"/>
                  </a:schemeClr>
                </a:solidFill>
              </a:rPr>
              <a:t>ACTIVITY #1</a:t>
            </a:r>
          </a:p>
          <a:p>
            <a:pPr algn="ctr"/>
            <a:r>
              <a:rPr lang="en-US" sz="5000" i="1" dirty="0">
                <a:solidFill>
                  <a:schemeClr val="accent5">
                    <a:lumMod val="75000"/>
                  </a:schemeClr>
                </a:solidFill>
                <a:ea typeface="Tinos" panose="02020603050405020304" pitchFamily="18" charset="0"/>
                <a:cs typeface="Tinos" panose="02020603050405020304" pitchFamily="18" charset="0"/>
              </a:rPr>
              <a:t>90% ranges</a:t>
            </a:r>
            <a:endParaRPr lang="en-US" sz="5000" i="1" noProof="0" dirty="0">
              <a:solidFill>
                <a:schemeClr val="accent5">
                  <a:lumMod val="75000"/>
                </a:schemeClr>
              </a:solidFill>
              <a:ea typeface="Tinos" panose="02020603050405020304" pitchFamily="18" charset="0"/>
              <a:cs typeface="Tino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24472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E2FDBC-CC66-5932-C6FA-74398DF35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8AC6EBCE-A133-BC7B-B446-E0A3E0E21E59}"/>
              </a:ext>
            </a:extLst>
          </p:cNvPr>
          <p:cNvSpPr txBox="1"/>
          <p:nvPr/>
        </p:nvSpPr>
        <p:spPr>
          <a:xfrm>
            <a:off x="1434662" y="1671145"/>
            <a:ext cx="932267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500" noProof="0" dirty="0"/>
              <a:t>How many people live in the city of Richmond (2020 census)?</a:t>
            </a:r>
            <a:endParaRPr lang="en-US" sz="4500" noProof="0" dirty="0">
              <a:latin typeface="Tinos" panose="02020603050405020304" pitchFamily="18" charset="0"/>
              <a:ea typeface="Tinos" panose="02020603050405020304" pitchFamily="18" charset="0"/>
              <a:cs typeface="Tino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31322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FFC0DB-C9B4-1D61-C82B-EE785234B1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3D78224C-8D40-45C6-6C3A-989C78E94270}"/>
              </a:ext>
            </a:extLst>
          </p:cNvPr>
          <p:cNvSpPr txBox="1"/>
          <p:nvPr/>
        </p:nvSpPr>
        <p:spPr>
          <a:xfrm>
            <a:off x="1434662" y="1671145"/>
            <a:ext cx="932267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500" noProof="0" dirty="0"/>
              <a:t>How many people live in Virginia (2024 estimate)?</a:t>
            </a:r>
            <a:endParaRPr lang="en-US" sz="4500" noProof="0" dirty="0">
              <a:latin typeface="Tinos" panose="02020603050405020304" pitchFamily="18" charset="0"/>
              <a:ea typeface="Tinos" panose="02020603050405020304" pitchFamily="18" charset="0"/>
              <a:cs typeface="Tino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28162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2CCA53-89C6-CECF-299C-6D0DF4710D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3043ACE0-8CA1-ED1A-C761-4DFD0F4D5B35}"/>
              </a:ext>
            </a:extLst>
          </p:cNvPr>
          <p:cNvSpPr txBox="1"/>
          <p:nvPr/>
        </p:nvSpPr>
        <p:spPr>
          <a:xfrm>
            <a:off x="1434662" y="1671145"/>
            <a:ext cx="932267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500" noProof="0" dirty="0"/>
              <a:t>How many countries are member states of the United Nations?</a:t>
            </a:r>
            <a:endParaRPr lang="en-US" sz="4500" noProof="0" dirty="0">
              <a:latin typeface="Tinos" panose="02020603050405020304" pitchFamily="18" charset="0"/>
              <a:ea typeface="Tinos" panose="02020603050405020304" pitchFamily="18" charset="0"/>
              <a:cs typeface="Tino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38489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00933C5A-498E-117A-5CE0-F8EFCB47A38A}"/>
              </a:ext>
            </a:extLst>
          </p:cNvPr>
          <p:cNvSpPr txBox="1"/>
          <p:nvPr/>
        </p:nvSpPr>
        <p:spPr>
          <a:xfrm>
            <a:off x="1434662" y="1671145"/>
            <a:ext cx="932267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500" noProof="0" dirty="0"/>
              <a:t>What is the diameter (in centimeters or inches) of a basketball hoop?</a:t>
            </a:r>
            <a:endParaRPr lang="en-US" sz="4500" noProof="0" dirty="0">
              <a:latin typeface="Tinos" panose="02020603050405020304" pitchFamily="18" charset="0"/>
              <a:ea typeface="Tinos" panose="02020603050405020304" pitchFamily="18" charset="0"/>
              <a:cs typeface="Tino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23311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EFF5AD-9C61-967D-CFE8-87BECB9CA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6F7EC3E6-8628-71B2-AB80-3142984DAD52}"/>
              </a:ext>
            </a:extLst>
          </p:cNvPr>
          <p:cNvSpPr txBox="1"/>
          <p:nvPr/>
        </p:nvSpPr>
        <p:spPr>
          <a:xfrm>
            <a:off x="1434662" y="1671145"/>
            <a:ext cx="932267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500" noProof="0" dirty="0"/>
              <a:t>In what year was Charlemagne crowned the Emperor by the Pope? </a:t>
            </a:r>
            <a:endParaRPr lang="en-US" sz="4500" noProof="0" dirty="0">
              <a:latin typeface="Tinos" panose="02020603050405020304" pitchFamily="18" charset="0"/>
              <a:ea typeface="Tinos" panose="02020603050405020304" pitchFamily="18" charset="0"/>
              <a:cs typeface="Tino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11992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DB8E04-FBD0-C8D3-95F1-8ADC0F3776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467CEF55-553E-495C-EAA2-48DFB249112C}"/>
              </a:ext>
            </a:extLst>
          </p:cNvPr>
          <p:cNvSpPr txBox="1"/>
          <p:nvPr/>
        </p:nvSpPr>
        <p:spPr>
          <a:xfrm>
            <a:off x="1434662" y="1671145"/>
            <a:ext cx="9322676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500" noProof="0" dirty="0"/>
              <a:t>Among adults who drink coffee, how many cups of coffee does the average American drink per day?</a:t>
            </a:r>
            <a:endParaRPr lang="en-US" sz="4500" noProof="0" dirty="0">
              <a:latin typeface="Tinos" panose="02020603050405020304" pitchFamily="18" charset="0"/>
              <a:ea typeface="Tinos" panose="02020603050405020304" pitchFamily="18" charset="0"/>
              <a:cs typeface="Tino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50305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65573B-382D-3755-7BFD-18948DC23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1D9C212A-F34B-A522-415C-4FB80E969E56}"/>
              </a:ext>
            </a:extLst>
          </p:cNvPr>
          <p:cNvSpPr txBox="1"/>
          <p:nvPr/>
        </p:nvSpPr>
        <p:spPr>
          <a:xfrm>
            <a:off x="1434662" y="1671145"/>
            <a:ext cx="932267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500" noProof="0" dirty="0">
                <a:ea typeface="Tinos" panose="02020603050405020304" pitchFamily="18" charset="0"/>
                <a:cs typeface="Tinos" panose="02020603050405020304" pitchFamily="18" charset="0"/>
              </a:rPr>
              <a:t>What is the average lifespan (in years) of a domestic cat?</a:t>
            </a:r>
          </a:p>
        </p:txBody>
      </p:sp>
    </p:spTree>
    <p:extLst>
      <p:ext uri="{BB962C8B-B14F-4D97-AF65-F5344CB8AC3E}">
        <p14:creationId xmlns:p14="http://schemas.microsoft.com/office/powerpoint/2010/main" val="27147659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E373C4-9974-8E2F-BF47-0ECC08001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5AF0E946-FAF5-F138-D4CA-1FD19926D82A}"/>
              </a:ext>
            </a:extLst>
          </p:cNvPr>
          <p:cNvSpPr txBox="1"/>
          <p:nvPr/>
        </p:nvSpPr>
        <p:spPr>
          <a:xfrm>
            <a:off x="1434662" y="1671145"/>
            <a:ext cx="932267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500" noProof="0" dirty="0">
                <a:ea typeface="Tinos" panose="02020603050405020304" pitchFamily="18" charset="0"/>
                <a:cs typeface="Tinos" panose="02020603050405020304" pitchFamily="18" charset="0"/>
              </a:rPr>
              <a:t>How many episodes of </a:t>
            </a:r>
            <a:r>
              <a:rPr lang="en-US" sz="4500" i="1" noProof="0" dirty="0">
                <a:ea typeface="Tinos" panose="02020603050405020304" pitchFamily="18" charset="0"/>
                <a:cs typeface="Tinos" panose="02020603050405020304" pitchFamily="18" charset="0"/>
              </a:rPr>
              <a:t>Friends</a:t>
            </a:r>
            <a:r>
              <a:rPr lang="en-US" sz="4500" noProof="0" dirty="0">
                <a:ea typeface="Tinos" panose="02020603050405020304" pitchFamily="18" charset="0"/>
                <a:cs typeface="Tinos" panose="02020603050405020304" pitchFamily="18" charset="0"/>
              </a:rPr>
              <a:t>  were </a:t>
            </a:r>
            <a:r>
              <a:rPr lang="en-US" sz="4500" dirty="0">
                <a:ea typeface="Tinos" panose="02020603050405020304" pitchFamily="18" charset="0"/>
                <a:cs typeface="Tinos" panose="02020603050405020304" pitchFamily="18" charset="0"/>
              </a:rPr>
              <a:t>produced?</a:t>
            </a:r>
            <a:endParaRPr lang="en-US" sz="4500" noProof="0" dirty="0">
              <a:ea typeface="Tinos" panose="02020603050405020304" pitchFamily="18" charset="0"/>
              <a:cs typeface="Tino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47953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194132-854A-E17E-DEE8-6E34092175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39D39CAF-525B-9079-33E8-24274EECE4B5}"/>
              </a:ext>
            </a:extLst>
          </p:cNvPr>
          <p:cNvSpPr txBox="1"/>
          <p:nvPr/>
        </p:nvSpPr>
        <p:spPr>
          <a:xfrm>
            <a:off x="1434662" y="1671145"/>
            <a:ext cx="932267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500" noProof="0" dirty="0">
                <a:ea typeface="Tinos" panose="02020603050405020304" pitchFamily="18" charset="0"/>
                <a:cs typeface="Tinos" panose="02020603050405020304" pitchFamily="18" charset="0"/>
              </a:rPr>
              <a:t>What is the median length of an episode of </a:t>
            </a:r>
            <a:r>
              <a:rPr lang="en-US" sz="4500" i="1" noProof="0" dirty="0">
                <a:ea typeface="Tinos" panose="02020603050405020304" pitchFamily="18" charset="0"/>
                <a:cs typeface="Tinos" panose="02020603050405020304" pitchFamily="18" charset="0"/>
              </a:rPr>
              <a:t>Friend</a:t>
            </a:r>
            <a:r>
              <a:rPr lang="en-US" sz="4500" dirty="0">
                <a:ea typeface="Tinos" panose="02020603050405020304" pitchFamily="18" charset="0"/>
                <a:cs typeface="Tinos" panose="02020603050405020304" pitchFamily="18" charset="0"/>
              </a:rPr>
              <a:t>s ?</a:t>
            </a:r>
            <a:endParaRPr lang="en-US" sz="4500" noProof="0" dirty="0">
              <a:ea typeface="Tinos" panose="02020603050405020304" pitchFamily="18" charset="0"/>
              <a:cs typeface="Tino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87594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78C55E-3574-C6A6-7DBF-9968CD9D0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1B7DC9C3-67DD-365A-5030-8C19CEF513B0}"/>
              </a:ext>
            </a:extLst>
          </p:cNvPr>
          <p:cNvSpPr txBox="1"/>
          <p:nvPr/>
        </p:nvSpPr>
        <p:spPr>
          <a:xfrm>
            <a:off x="1434662" y="1671145"/>
            <a:ext cx="932267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500" noProof="0" dirty="0">
                <a:ea typeface="Tinos" panose="02020603050405020304" pitchFamily="18" charset="0"/>
                <a:cs typeface="Tinos" panose="02020603050405020304" pitchFamily="18" charset="0"/>
              </a:rPr>
              <a:t>What is the average number of steps an adult takes in a day (in the U.S.)?</a:t>
            </a:r>
          </a:p>
        </p:txBody>
      </p:sp>
    </p:spTree>
    <p:extLst>
      <p:ext uri="{BB962C8B-B14F-4D97-AF65-F5344CB8AC3E}">
        <p14:creationId xmlns:p14="http://schemas.microsoft.com/office/powerpoint/2010/main" val="184248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A8AA2-8AB0-F310-5F16-A5F0A16D95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B6D96D99-1F09-21DA-84E8-531CBC45DD63}"/>
              </a:ext>
            </a:extLst>
          </p:cNvPr>
          <p:cNvSpPr txBox="1"/>
          <p:nvPr/>
        </p:nvSpPr>
        <p:spPr>
          <a:xfrm>
            <a:off x="1434662" y="1671145"/>
            <a:ext cx="932267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500" noProof="0" dirty="0">
                <a:ea typeface="Tinos" panose="02020603050405020304" pitchFamily="18" charset="0"/>
                <a:cs typeface="Tinos" panose="02020603050405020304" pitchFamily="18" charset="0"/>
              </a:rPr>
              <a:t>What is the average height of an adult </a:t>
            </a:r>
            <a:r>
              <a:rPr lang="en-US" sz="4500" b="1" noProof="0" dirty="0">
                <a:ea typeface="Tinos" panose="02020603050405020304" pitchFamily="18" charset="0"/>
                <a:cs typeface="Tinos" panose="02020603050405020304" pitchFamily="18" charset="0"/>
              </a:rPr>
              <a:t>male</a:t>
            </a:r>
            <a:r>
              <a:rPr lang="en-US" sz="4500" noProof="0" dirty="0">
                <a:ea typeface="Tinos" panose="02020603050405020304" pitchFamily="18" charset="0"/>
                <a:cs typeface="Tinos" panose="02020603050405020304" pitchFamily="18" charset="0"/>
              </a:rPr>
              <a:t> in the U.S. (cm or in)?</a:t>
            </a:r>
          </a:p>
        </p:txBody>
      </p:sp>
    </p:spTree>
    <p:extLst>
      <p:ext uri="{BB962C8B-B14F-4D97-AF65-F5344CB8AC3E}">
        <p14:creationId xmlns:p14="http://schemas.microsoft.com/office/powerpoint/2010/main" val="36842494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34ACD7-08DE-824D-6AB2-30A50A03D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2766EC57-0F5B-1D9A-BA15-A71CA427C869}"/>
              </a:ext>
            </a:extLst>
          </p:cNvPr>
          <p:cNvSpPr txBox="1"/>
          <p:nvPr/>
        </p:nvSpPr>
        <p:spPr>
          <a:xfrm>
            <a:off x="1434662" y="1671145"/>
            <a:ext cx="932267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500" noProof="0" dirty="0">
                <a:ea typeface="Tinos" panose="02020603050405020304" pitchFamily="18" charset="0"/>
                <a:cs typeface="Tinos" panose="02020603050405020304" pitchFamily="18" charset="0"/>
              </a:rPr>
              <a:t>What is the average height of an adult </a:t>
            </a:r>
            <a:r>
              <a:rPr lang="en-US" sz="4500" b="1" noProof="0" dirty="0">
                <a:ea typeface="Tinos" panose="02020603050405020304" pitchFamily="18" charset="0"/>
                <a:cs typeface="Tinos" panose="02020603050405020304" pitchFamily="18" charset="0"/>
              </a:rPr>
              <a:t>female</a:t>
            </a:r>
            <a:r>
              <a:rPr lang="en-US" sz="4500" noProof="0" dirty="0">
                <a:ea typeface="Tinos" panose="02020603050405020304" pitchFamily="18" charset="0"/>
                <a:cs typeface="Tinos" panose="02020603050405020304" pitchFamily="18" charset="0"/>
              </a:rPr>
              <a:t> in the U.S. (cm or in)?</a:t>
            </a:r>
          </a:p>
        </p:txBody>
      </p:sp>
    </p:spTree>
    <p:extLst>
      <p:ext uri="{BB962C8B-B14F-4D97-AF65-F5344CB8AC3E}">
        <p14:creationId xmlns:p14="http://schemas.microsoft.com/office/powerpoint/2010/main" val="13036540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63055-0606-485D-2A8C-E5623534B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C52102F1-B395-090E-25EB-B3F178C98A8D}"/>
              </a:ext>
            </a:extLst>
          </p:cNvPr>
          <p:cNvSpPr txBox="1"/>
          <p:nvPr/>
        </p:nvSpPr>
        <p:spPr>
          <a:xfrm>
            <a:off x="1434662" y="1671145"/>
            <a:ext cx="9322676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500" noProof="0" dirty="0">
                <a:ea typeface="Tinos" panose="02020603050405020304" pitchFamily="18" charset="0"/>
                <a:cs typeface="Tinos" panose="02020603050405020304" pitchFamily="18" charset="0"/>
              </a:rPr>
              <a:t>What is the average number of words on the front page of </a:t>
            </a:r>
            <a:r>
              <a:rPr lang="en-US" sz="4500" i="1" noProof="0" dirty="0">
                <a:ea typeface="Tinos" panose="02020603050405020304" pitchFamily="18" charset="0"/>
                <a:cs typeface="Tinos" panose="02020603050405020304" pitchFamily="18" charset="0"/>
              </a:rPr>
              <a:t>The New York Times</a:t>
            </a:r>
            <a:r>
              <a:rPr lang="en-US" sz="4500" noProof="0" dirty="0">
                <a:ea typeface="Tinos" panose="02020603050405020304" pitchFamily="18" charset="0"/>
                <a:cs typeface="Tinos" panose="02020603050405020304" pitchFamily="18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4516502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36714-BB07-373A-51D5-5670B2078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697E8C15-C402-175C-6853-E3BF64224742}"/>
              </a:ext>
            </a:extLst>
          </p:cNvPr>
          <p:cNvSpPr txBox="1"/>
          <p:nvPr/>
        </p:nvSpPr>
        <p:spPr>
          <a:xfrm>
            <a:off x="1434662" y="1671145"/>
            <a:ext cx="9322676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500" noProof="0" dirty="0">
                <a:ea typeface="Tinos" panose="02020603050405020304" pitchFamily="18" charset="0"/>
                <a:cs typeface="Tinos" panose="02020603050405020304" pitchFamily="18" charset="0"/>
              </a:rPr>
              <a:t>What is the average number of words spoken by an English-speaking adult in the U.S.?</a:t>
            </a:r>
          </a:p>
        </p:txBody>
      </p:sp>
    </p:spTree>
    <p:extLst>
      <p:ext uri="{BB962C8B-B14F-4D97-AF65-F5344CB8AC3E}">
        <p14:creationId xmlns:p14="http://schemas.microsoft.com/office/powerpoint/2010/main" val="34528498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098EC4-40C7-CDB1-DEC1-C1894632D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ABE51AE0-0912-0CA9-5DA5-8681C8E0A2FB}"/>
              </a:ext>
            </a:extLst>
          </p:cNvPr>
          <p:cNvSpPr txBox="1"/>
          <p:nvPr/>
        </p:nvSpPr>
        <p:spPr>
          <a:xfrm>
            <a:off x="1434662" y="1671145"/>
            <a:ext cx="93226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noProof="0" dirty="0">
                <a:solidFill>
                  <a:schemeClr val="accent5">
                    <a:lumMod val="75000"/>
                  </a:schemeClr>
                </a:solidFill>
              </a:rPr>
              <a:t>Answers</a:t>
            </a:r>
            <a:endParaRPr lang="en-US" sz="5000" b="1" i="1" noProof="0" dirty="0">
              <a:solidFill>
                <a:schemeClr val="accent5">
                  <a:lumMod val="75000"/>
                </a:schemeClr>
              </a:solidFill>
              <a:ea typeface="Tinos" panose="02020603050405020304" pitchFamily="18" charset="0"/>
              <a:cs typeface="Tino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73708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CFBF20-7EFC-C860-C272-38C556F7D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5E7D5773-2F3C-412E-E3B2-48A884374377}"/>
              </a:ext>
            </a:extLst>
          </p:cNvPr>
          <p:cNvSpPr txBox="1"/>
          <p:nvPr/>
        </p:nvSpPr>
        <p:spPr>
          <a:xfrm>
            <a:off x="1434662" y="1671145"/>
            <a:ext cx="932267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500" noProof="0" dirty="0"/>
              <a:t>How many people live in the city of Richmond (2020 census)?</a:t>
            </a:r>
            <a:endParaRPr lang="en-US" sz="4500" noProof="0" dirty="0">
              <a:latin typeface="Tinos" panose="02020603050405020304" pitchFamily="18" charset="0"/>
              <a:ea typeface="Tinos" panose="02020603050405020304" pitchFamily="18" charset="0"/>
              <a:cs typeface="Tinos" panose="02020603050405020304" pitchFamily="18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15C971C1-4480-2BC7-299B-3E22E264701B}"/>
              </a:ext>
            </a:extLst>
          </p:cNvPr>
          <p:cNvSpPr txBox="1"/>
          <p:nvPr/>
        </p:nvSpPr>
        <p:spPr>
          <a:xfrm>
            <a:off x="1434662" y="3515710"/>
            <a:ext cx="9322676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500" noProof="0" dirty="0">
                <a:solidFill>
                  <a:schemeClr val="accent2">
                    <a:lumMod val="75000"/>
                  </a:schemeClr>
                </a:solidFill>
                <a:latin typeface="Tinos" panose="02020603050405020304" pitchFamily="18" charset="0"/>
                <a:ea typeface="Tinos" panose="02020603050405020304" pitchFamily="18" charset="0"/>
                <a:cs typeface="Tinos" panose="02020603050405020304" pitchFamily="18" charset="0"/>
              </a:rPr>
              <a:t>226,610</a:t>
            </a:r>
          </a:p>
        </p:txBody>
      </p:sp>
    </p:spTree>
    <p:extLst>
      <p:ext uri="{BB962C8B-B14F-4D97-AF65-F5344CB8AC3E}">
        <p14:creationId xmlns:p14="http://schemas.microsoft.com/office/powerpoint/2010/main" val="16901996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CC9063-0A83-F83E-7C02-41F7F5054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90D42CDA-1C5D-295E-1913-4F2EF7D971A2}"/>
              </a:ext>
            </a:extLst>
          </p:cNvPr>
          <p:cNvSpPr txBox="1"/>
          <p:nvPr/>
        </p:nvSpPr>
        <p:spPr>
          <a:xfrm>
            <a:off x="1434662" y="1671145"/>
            <a:ext cx="932267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500" noProof="0" dirty="0"/>
              <a:t>How many people live in Virginia (2024 estimate)?</a:t>
            </a:r>
            <a:endParaRPr lang="en-US" sz="4500" noProof="0" dirty="0">
              <a:latin typeface="Tinos" panose="02020603050405020304" pitchFamily="18" charset="0"/>
              <a:ea typeface="Tinos" panose="02020603050405020304" pitchFamily="18" charset="0"/>
              <a:cs typeface="Tinos" panose="02020603050405020304" pitchFamily="18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DBE230D7-0148-D28F-5C57-24748E8983C6}"/>
              </a:ext>
            </a:extLst>
          </p:cNvPr>
          <p:cNvSpPr txBox="1"/>
          <p:nvPr/>
        </p:nvSpPr>
        <p:spPr>
          <a:xfrm>
            <a:off x="1434662" y="3515710"/>
            <a:ext cx="9322676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500" noProof="0" dirty="0">
                <a:solidFill>
                  <a:schemeClr val="accent2">
                    <a:lumMod val="75000"/>
                  </a:schemeClr>
                </a:solidFill>
                <a:latin typeface="Tinos" panose="02020603050405020304" pitchFamily="18" charset="0"/>
                <a:ea typeface="Tinos" panose="02020603050405020304" pitchFamily="18" charset="0"/>
                <a:cs typeface="Tinos" panose="02020603050405020304" pitchFamily="18" charset="0"/>
              </a:rPr>
              <a:t>8,811,195</a:t>
            </a:r>
          </a:p>
        </p:txBody>
      </p:sp>
    </p:spTree>
    <p:extLst>
      <p:ext uri="{BB962C8B-B14F-4D97-AF65-F5344CB8AC3E}">
        <p14:creationId xmlns:p14="http://schemas.microsoft.com/office/powerpoint/2010/main" val="23045703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E0D67E-4483-4C35-54C9-B9115FB5D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4E55F4B2-942D-C68E-B805-2A618606294C}"/>
              </a:ext>
            </a:extLst>
          </p:cNvPr>
          <p:cNvSpPr txBox="1"/>
          <p:nvPr/>
        </p:nvSpPr>
        <p:spPr>
          <a:xfrm>
            <a:off x="1434662" y="1671145"/>
            <a:ext cx="932267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500" noProof="0" dirty="0"/>
              <a:t>How many countries are member states of the United Nations?</a:t>
            </a:r>
            <a:endParaRPr lang="en-US" sz="4500" noProof="0" dirty="0">
              <a:latin typeface="Tinos" panose="02020603050405020304" pitchFamily="18" charset="0"/>
              <a:ea typeface="Tinos" panose="02020603050405020304" pitchFamily="18" charset="0"/>
              <a:cs typeface="Tinos" panose="02020603050405020304" pitchFamily="18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08494D63-BA24-5FAF-09F3-5599EC208ACC}"/>
              </a:ext>
            </a:extLst>
          </p:cNvPr>
          <p:cNvSpPr txBox="1"/>
          <p:nvPr/>
        </p:nvSpPr>
        <p:spPr>
          <a:xfrm>
            <a:off x="1434662" y="3515710"/>
            <a:ext cx="9322676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500" noProof="0" dirty="0">
                <a:solidFill>
                  <a:schemeClr val="accent2">
                    <a:lumMod val="75000"/>
                  </a:schemeClr>
                </a:solidFill>
                <a:latin typeface="Tinos" panose="02020603050405020304" pitchFamily="18" charset="0"/>
                <a:ea typeface="Tinos" panose="02020603050405020304" pitchFamily="18" charset="0"/>
                <a:cs typeface="Tinos" panose="02020603050405020304" pitchFamily="18" charset="0"/>
              </a:rPr>
              <a:t>193</a:t>
            </a:r>
          </a:p>
        </p:txBody>
      </p:sp>
    </p:spTree>
    <p:extLst>
      <p:ext uri="{BB962C8B-B14F-4D97-AF65-F5344CB8AC3E}">
        <p14:creationId xmlns:p14="http://schemas.microsoft.com/office/powerpoint/2010/main" val="29480791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28B6D2-9683-BEA7-B57F-A4BA2673B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BCB2074F-B891-08A8-3EFA-7FEF6CAD2309}"/>
              </a:ext>
            </a:extLst>
          </p:cNvPr>
          <p:cNvSpPr txBox="1"/>
          <p:nvPr/>
        </p:nvSpPr>
        <p:spPr>
          <a:xfrm>
            <a:off x="1434662" y="1671145"/>
            <a:ext cx="932267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500" noProof="0" dirty="0"/>
              <a:t>What is the diameter (in centimeters or inches) of a basketball hoop?</a:t>
            </a:r>
            <a:endParaRPr lang="en-US" sz="4500" noProof="0" dirty="0">
              <a:latin typeface="Tinos" panose="02020603050405020304" pitchFamily="18" charset="0"/>
              <a:ea typeface="Tinos" panose="02020603050405020304" pitchFamily="18" charset="0"/>
              <a:cs typeface="Tinos" panose="02020603050405020304" pitchFamily="18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24008375-8581-B42C-832B-317BD0763734}"/>
              </a:ext>
            </a:extLst>
          </p:cNvPr>
          <p:cNvSpPr txBox="1"/>
          <p:nvPr/>
        </p:nvSpPr>
        <p:spPr>
          <a:xfrm>
            <a:off x="1434662" y="3515710"/>
            <a:ext cx="9322676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500" noProof="0" dirty="0">
                <a:solidFill>
                  <a:schemeClr val="accent2">
                    <a:lumMod val="75000"/>
                  </a:schemeClr>
                </a:solidFill>
                <a:latin typeface="Tinos" panose="02020603050405020304" pitchFamily="18" charset="0"/>
                <a:ea typeface="Tinos" panose="02020603050405020304" pitchFamily="18" charset="0"/>
                <a:cs typeface="Tinos" panose="02020603050405020304" pitchFamily="18" charset="0"/>
              </a:rPr>
              <a:t>18 inches or 46 cm</a:t>
            </a:r>
          </a:p>
        </p:txBody>
      </p:sp>
    </p:spTree>
    <p:extLst>
      <p:ext uri="{BB962C8B-B14F-4D97-AF65-F5344CB8AC3E}">
        <p14:creationId xmlns:p14="http://schemas.microsoft.com/office/powerpoint/2010/main" val="27012795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EBE092-9472-AA3E-0A39-6CF5FD802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0CE4B1E6-2B4C-21DB-0A62-C3FB5E5DD204}"/>
              </a:ext>
            </a:extLst>
          </p:cNvPr>
          <p:cNvSpPr txBox="1"/>
          <p:nvPr/>
        </p:nvSpPr>
        <p:spPr>
          <a:xfrm>
            <a:off x="1434662" y="1671145"/>
            <a:ext cx="932267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500" noProof="0" dirty="0"/>
              <a:t>In what year was Charlemagne crowned the Emperor by the Pope? </a:t>
            </a:r>
            <a:endParaRPr lang="en-US" sz="4500" noProof="0" dirty="0">
              <a:latin typeface="Tinos" panose="02020603050405020304" pitchFamily="18" charset="0"/>
              <a:ea typeface="Tinos" panose="02020603050405020304" pitchFamily="18" charset="0"/>
              <a:cs typeface="Tinos" panose="02020603050405020304" pitchFamily="18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54BC2DF7-74E2-0AFE-0932-AB9947A9B2A8}"/>
              </a:ext>
            </a:extLst>
          </p:cNvPr>
          <p:cNvSpPr txBox="1"/>
          <p:nvPr/>
        </p:nvSpPr>
        <p:spPr>
          <a:xfrm>
            <a:off x="1434662" y="3515710"/>
            <a:ext cx="9322676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500" noProof="0" dirty="0">
                <a:solidFill>
                  <a:schemeClr val="accent2">
                    <a:lumMod val="75000"/>
                  </a:schemeClr>
                </a:solidFill>
                <a:latin typeface="Tinos" panose="02020603050405020304" pitchFamily="18" charset="0"/>
                <a:ea typeface="Tinos" panose="02020603050405020304" pitchFamily="18" charset="0"/>
                <a:cs typeface="Tinos" panose="02020603050405020304" pitchFamily="18" charset="0"/>
              </a:rPr>
              <a:t>800</a:t>
            </a:r>
          </a:p>
        </p:txBody>
      </p:sp>
    </p:spTree>
    <p:extLst>
      <p:ext uri="{BB962C8B-B14F-4D97-AF65-F5344CB8AC3E}">
        <p14:creationId xmlns:p14="http://schemas.microsoft.com/office/powerpoint/2010/main" val="17348923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98F1B0-4782-75A4-D853-A5C56A6B1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7063099D-DD35-6242-A191-8EDE7843CC9C}"/>
              </a:ext>
            </a:extLst>
          </p:cNvPr>
          <p:cNvSpPr txBox="1"/>
          <p:nvPr/>
        </p:nvSpPr>
        <p:spPr>
          <a:xfrm>
            <a:off x="1434662" y="1671145"/>
            <a:ext cx="9322676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500" noProof="0" dirty="0"/>
              <a:t>Among adults who drink coffee, how many cups of coffee does the average American drink per day?</a:t>
            </a:r>
            <a:endParaRPr lang="en-US" sz="4500" noProof="0" dirty="0">
              <a:latin typeface="Tinos" panose="02020603050405020304" pitchFamily="18" charset="0"/>
              <a:ea typeface="Tinos" panose="02020603050405020304" pitchFamily="18" charset="0"/>
              <a:cs typeface="Tinos" panose="02020603050405020304" pitchFamily="18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2061109B-CA80-B235-1672-CAD5ADB59545}"/>
              </a:ext>
            </a:extLst>
          </p:cNvPr>
          <p:cNvSpPr txBox="1"/>
          <p:nvPr/>
        </p:nvSpPr>
        <p:spPr>
          <a:xfrm>
            <a:off x="1434662" y="4167352"/>
            <a:ext cx="9322676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500" noProof="0" dirty="0">
                <a:solidFill>
                  <a:schemeClr val="accent2">
                    <a:lumMod val="75000"/>
                  </a:schemeClr>
                </a:solidFill>
                <a:latin typeface="Tinos" panose="02020603050405020304" pitchFamily="18" charset="0"/>
                <a:ea typeface="Tinos" panose="02020603050405020304" pitchFamily="18" charset="0"/>
                <a:cs typeface="Tinos" panose="02020603050405020304" pitchFamily="18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4662312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B31D37-1DA1-4825-6487-D7C2DD43B8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EB41ED59-B62C-A8A7-9D35-4534B3C778D0}"/>
              </a:ext>
            </a:extLst>
          </p:cNvPr>
          <p:cNvSpPr txBox="1"/>
          <p:nvPr/>
        </p:nvSpPr>
        <p:spPr>
          <a:xfrm>
            <a:off x="1434662" y="1671145"/>
            <a:ext cx="932267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500" noProof="0" dirty="0">
                <a:ea typeface="Tinos" panose="02020603050405020304" pitchFamily="18" charset="0"/>
                <a:cs typeface="Tinos" panose="02020603050405020304" pitchFamily="18" charset="0"/>
              </a:rPr>
              <a:t>What is the average lifespan (in years) of a domestic cat?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E01BFAD1-469B-8F32-4383-D6115B0D823C}"/>
              </a:ext>
            </a:extLst>
          </p:cNvPr>
          <p:cNvSpPr txBox="1"/>
          <p:nvPr/>
        </p:nvSpPr>
        <p:spPr>
          <a:xfrm>
            <a:off x="1434662" y="4167352"/>
            <a:ext cx="9322676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500" dirty="0">
                <a:solidFill>
                  <a:schemeClr val="accent2">
                    <a:lumMod val="75000"/>
                  </a:schemeClr>
                </a:solidFill>
                <a:latin typeface="Tinos" panose="02020603050405020304" pitchFamily="18" charset="0"/>
                <a:ea typeface="Tinos" panose="02020603050405020304" pitchFamily="18" charset="0"/>
                <a:cs typeface="Tinos" panose="02020603050405020304" pitchFamily="18" charset="0"/>
              </a:rPr>
              <a:t>15</a:t>
            </a:r>
            <a:endParaRPr lang="en-US" sz="4500" noProof="0" dirty="0">
              <a:solidFill>
                <a:schemeClr val="accent2">
                  <a:lumMod val="75000"/>
                </a:schemeClr>
              </a:solidFill>
              <a:latin typeface="Tinos" panose="02020603050405020304" pitchFamily="18" charset="0"/>
              <a:ea typeface="Tinos" panose="02020603050405020304" pitchFamily="18" charset="0"/>
              <a:cs typeface="Tino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06303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0BFCB-35C0-FF98-9120-8E27DA985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971965FF-7C3A-2193-A7D0-76E6C7CAD338}"/>
              </a:ext>
            </a:extLst>
          </p:cNvPr>
          <p:cNvSpPr txBox="1"/>
          <p:nvPr/>
        </p:nvSpPr>
        <p:spPr>
          <a:xfrm>
            <a:off x="1434662" y="1671145"/>
            <a:ext cx="932267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500" noProof="0" dirty="0">
                <a:ea typeface="Tinos" panose="02020603050405020304" pitchFamily="18" charset="0"/>
                <a:cs typeface="Tinos" panose="02020603050405020304" pitchFamily="18" charset="0"/>
              </a:rPr>
              <a:t>How many episodes of </a:t>
            </a:r>
            <a:r>
              <a:rPr lang="en-US" sz="4500" i="1" noProof="0" dirty="0">
                <a:ea typeface="Tinos" panose="02020603050405020304" pitchFamily="18" charset="0"/>
                <a:cs typeface="Tinos" panose="02020603050405020304" pitchFamily="18" charset="0"/>
              </a:rPr>
              <a:t>Friends</a:t>
            </a:r>
            <a:r>
              <a:rPr lang="en-US" sz="4500" noProof="0" dirty="0">
                <a:ea typeface="Tinos" panose="02020603050405020304" pitchFamily="18" charset="0"/>
                <a:cs typeface="Tinos" panose="02020603050405020304" pitchFamily="18" charset="0"/>
              </a:rPr>
              <a:t> </a:t>
            </a:r>
            <a:r>
              <a:rPr lang="en-US" sz="4500" noProof="0" dirty="0" err="1">
                <a:ea typeface="Tinos" panose="02020603050405020304" pitchFamily="18" charset="0"/>
                <a:cs typeface="Tinos" panose="02020603050405020304" pitchFamily="18" charset="0"/>
              </a:rPr>
              <a:t>wer</a:t>
            </a:r>
            <a:r>
              <a:rPr lang="en-US" sz="4500" dirty="0">
                <a:ea typeface="Tinos" panose="02020603050405020304" pitchFamily="18" charset="0"/>
                <a:cs typeface="Tinos" panose="02020603050405020304" pitchFamily="18" charset="0"/>
              </a:rPr>
              <a:t>e produced?</a:t>
            </a:r>
            <a:endParaRPr lang="en-US" sz="4500" noProof="0" dirty="0">
              <a:ea typeface="Tinos" panose="02020603050405020304" pitchFamily="18" charset="0"/>
              <a:cs typeface="Tinos" panose="02020603050405020304" pitchFamily="18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F425DE00-A070-35D7-4EBF-FA380644CBB6}"/>
              </a:ext>
            </a:extLst>
          </p:cNvPr>
          <p:cNvSpPr txBox="1"/>
          <p:nvPr/>
        </p:nvSpPr>
        <p:spPr>
          <a:xfrm>
            <a:off x="1434662" y="4167352"/>
            <a:ext cx="9322676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500" dirty="0">
                <a:solidFill>
                  <a:schemeClr val="accent2">
                    <a:lumMod val="75000"/>
                  </a:schemeClr>
                </a:solidFill>
                <a:latin typeface="Tinos" panose="02020603050405020304" pitchFamily="18" charset="0"/>
                <a:ea typeface="Tinos" panose="02020603050405020304" pitchFamily="18" charset="0"/>
                <a:cs typeface="Tinos" panose="02020603050405020304" pitchFamily="18" charset="0"/>
              </a:rPr>
              <a:t>236</a:t>
            </a:r>
            <a:endParaRPr lang="en-US" sz="4500" noProof="0" dirty="0">
              <a:solidFill>
                <a:schemeClr val="accent2">
                  <a:lumMod val="75000"/>
                </a:schemeClr>
              </a:solidFill>
              <a:latin typeface="Tinos" panose="02020603050405020304" pitchFamily="18" charset="0"/>
              <a:ea typeface="Tinos" panose="02020603050405020304" pitchFamily="18" charset="0"/>
              <a:cs typeface="Tino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43929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0EF169-72BA-C32B-7E99-D7A89D0310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7C856B5D-C8B5-8978-1588-CA245D259F62}"/>
              </a:ext>
            </a:extLst>
          </p:cNvPr>
          <p:cNvSpPr txBox="1"/>
          <p:nvPr/>
        </p:nvSpPr>
        <p:spPr>
          <a:xfrm>
            <a:off x="1434662" y="1671145"/>
            <a:ext cx="932267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500" noProof="0" dirty="0">
                <a:ea typeface="Tinos" panose="02020603050405020304" pitchFamily="18" charset="0"/>
                <a:cs typeface="Tinos" panose="02020603050405020304" pitchFamily="18" charset="0"/>
              </a:rPr>
              <a:t>What is the median length of an episode of </a:t>
            </a:r>
            <a:r>
              <a:rPr lang="en-US" sz="4500" i="1" noProof="0" dirty="0">
                <a:ea typeface="Tinos" panose="02020603050405020304" pitchFamily="18" charset="0"/>
                <a:cs typeface="Tinos" panose="02020603050405020304" pitchFamily="18" charset="0"/>
              </a:rPr>
              <a:t>Friend</a:t>
            </a:r>
            <a:r>
              <a:rPr lang="en-US" sz="4500" dirty="0">
                <a:ea typeface="Tinos" panose="02020603050405020304" pitchFamily="18" charset="0"/>
                <a:cs typeface="Tinos" panose="02020603050405020304" pitchFamily="18" charset="0"/>
              </a:rPr>
              <a:t>s ?</a:t>
            </a:r>
            <a:endParaRPr lang="en-US" sz="4500" noProof="0" dirty="0">
              <a:ea typeface="Tinos" panose="02020603050405020304" pitchFamily="18" charset="0"/>
              <a:cs typeface="Tinos" panose="02020603050405020304" pitchFamily="18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5E443416-E271-6369-9806-84FD704FB032}"/>
              </a:ext>
            </a:extLst>
          </p:cNvPr>
          <p:cNvSpPr txBox="1"/>
          <p:nvPr/>
        </p:nvSpPr>
        <p:spPr>
          <a:xfrm>
            <a:off x="1434662" y="4167352"/>
            <a:ext cx="9322676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500" dirty="0">
                <a:solidFill>
                  <a:schemeClr val="accent2">
                    <a:lumMod val="75000"/>
                  </a:schemeClr>
                </a:solidFill>
                <a:latin typeface="Tinos" panose="02020603050405020304" pitchFamily="18" charset="0"/>
                <a:ea typeface="Tinos" panose="02020603050405020304" pitchFamily="18" charset="0"/>
                <a:cs typeface="Tinos" panose="02020603050405020304" pitchFamily="18" charset="0"/>
              </a:rPr>
              <a:t>23 minutes</a:t>
            </a:r>
            <a:endParaRPr lang="en-US" sz="4500" noProof="0" dirty="0">
              <a:solidFill>
                <a:schemeClr val="accent2">
                  <a:lumMod val="75000"/>
                </a:schemeClr>
              </a:solidFill>
              <a:latin typeface="Tinos" panose="02020603050405020304" pitchFamily="18" charset="0"/>
              <a:ea typeface="Tinos" panose="02020603050405020304" pitchFamily="18" charset="0"/>
              <a:cs typeface="Tino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541267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C05304-7117-81C7-0D7E-02E4DB129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41AD2AB9-C0D4-B875-201B-310363FDCE7D}"/>
              </a:ext>
            </a:extLst>
          </p:cNvPr>
          <p:cNvSpPr txBox="1"/>
          <p:nvPr/>
        </p:nvSpPr>
        <p:spPr>
          <a:xfrm>
            <a:off x="1434662" y="1671145"/>
            <a:ext cx="932267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500" noProof="0" dirty="0">
                <a:ea typeface="Tinos" panose="02020603050405020304" pitchFamily="18" charset="0"/>
                <a:cs typeface="Tinos" panose="02020603050405020304" pitchFamily="18" charset="0"/>
              </a:rPr>
              <a:t>What is the average number of steps an adult takes in a day (in the U.S.)?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02CDB428-422F-1B37-16D7-7A77515DDFBA}"/>
              </a:ext>
            </a:extLst>
          </p:cNvPr>
          <p:cNvSpPr txBox="1"/>
          <p:nvPr/>
        </p:nvSpPr>
        <p:spPr>
          <a:xfrm>
            <a:off x="1434662" y="4167352"/>
            <a:ext cx="9322676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500" dirty="0">
                <a:solidFill>
                  <a:schemeClr val="accent2">
                    <a:lumMod val="75000"/>
                  </a:schemeClr>
                </a:solidFill>
                <a:latin typeface="Tinos" panose="02020603050405020304" pitchFamily="18" charset="0"/>
                <a:ea typeface="Tinos" panose="02020603050405020304" pitchFamily="18" charset="0"/>
                <a:cs typeface="Tinos" panose="02020603050405020304" pitchFamily="18" charset="0"/>
              </a:rPr>
              <a:t>4,500</a:t>
            </a:r>
            <a:endParaRPr lang="en-US" sz="4500" noProof="0" dirty="0">
              <a:solidFill>
                <a:schemeClr val="accent2">
                  <a:lumMod val="75000"/>
                </a:schemeClr>
              </a:solidFill>
              <a:latin typeface="Tinos" panose="02020603050405020304" pitchFamily="18" charset="0"/>
              <a:ea typeface="Tinos" panose="02020603050405020304" pitchFamily="18" charset="0"/>
              <a:cs typeface="Tino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38877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30A539-7459-17F6-91A1-6CAE1785C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05F3E6EB-BA52-A6F0-4EB9-278B263A01A0}"/>
              </a:ext>
            </a:extLst>
          </p:cNvPr>
          <p:cNvSpPr txBox="1"/>
          <p:nvPr/>
        </p:nvSpPr>
        <p:spPr>
          <a:xfrm>
            <a:off x="1434662" y="1671145"/>
            <a:ext cx="932267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500" noProof="0" dirty="0">
                <a:ea typeface="Tinos" panose="02020603050405020304" pitchFamily="18" charset="0"/>
                <a:cs typeface="Tinos" panose="02020603050405020304" pitchFamily="18" charset="0"/>
              </a:rPr>
              <a:t>What is the average height of an adult </a:t>
            </a:r>
            <a:r>
              <a:rPr lang="en-US" sz="4500" b="1" noProof="0" dirty="0">
                <a:ea typeface="Tinos" panose="02020603050405020304" pitchFamily="18" charset="0"/>
                <a:cs typeface="Tinos" panose="02020603050405020304" pitchFamily="18" charset="0"/>
              </a:rPr>
              <a:t>male</a:t>
            </a:r>
            <a:r>
              <a:rPr lang="en-US" sz="4500" noProof="0" dirty="0">
                <a:ea typeface="Tinos" panose="02020603050405020304" pitchFamily="18" charset="0"/>
                <a:cs typeface="Tinos" panose="02020603050405020304" pitchFamily="18" charset="0"/>
              </a:rPr>
              <a:t> in the U.S. (cm or in)?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D3EACF9D-B5B2-EC95-0999-1BC2CE73B669}"/>
              </a:ext>
            </a:extLst>
          </p:cNvPr>
          <p:cNvSpPr txBox="1"/>
          <p:nvPr/>
        </p:nvSpPr>
        <p:spPr>
          <a:xfrm>
            <a:off x="1434662" y="4167352"/>
            <a:ext cx="9322676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500" dirty="0">
                <a:solidFill>
                  <a:schemeClr val="accent2">
                    <a:lumMod val="75000"/>
                  </a:schemeClr>
                </a:solidFill>
                <a:latin typeface="Tinos" panose="02020603050405020304" pitchFamily="18" charset="0"/>
                <a:ea typeface="Tinos" panose="02020603050405020304" pitchFamily="18" charset="0"/>
                <a:cs typeface="Tinos" panose="02020603050405020304" pitchFamily="18" charset="0"/>
              </a:rPr>
              <a:t>175.3 cm or 69 in</a:t>
            </a:r>
            <a:endParaRPr lang="en-US" sz="4500" noProof="0" dirty="0">
              <a:solidFill>
                <a:schemeClr val="accent2">
                  <a:lumMod val="75000"/>
                </a:schemeClr>
              </a:solidFill>
              <a:latin typeface="Tinos" panose="02020603050405020304" pitchFamily="18" charset="0"/>
              <a:ea typeface="Tinos" panose="02020603050405020304" pitchFamily="18" charset="0"/>
              <a:cs typeface="Tino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94442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BD600F-7FC1-5A1A-F38C-6ECC9ACC0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6EDB6374-07F0-FCEE-7A99-60F9E6C532B2}"/>
              </a:ext>
            </a:extLst>
          </p:cNvPr>
          <p:cNvSpPr txBox="1"/>
          <p:nvPr/>
        </p:nvSpPr>
        <p:spPr>
          <a:xfrm>
            <a:off x="1434662" y="1671145"/>
            <a:ext cx="932267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500" noProof="0" dirty="0">
                <a:ea typeface="Tinos" panose="02020603050405020304" pitchFamily="18" charset="0"/>
                <a:cs typeface="Tinos" panose="02020603050405020304" pitchFamily="18" charset="0"/>
              </a:rPr>
              <a:t>What is the average height of an adult </a:t>
            </a:r>
            <a:r>
              <a:rPr lang="en-US" sz="4500" b="1" noProof="0" dirty="0">
                <a:ea typeface="Tinos" panose="02020603050405020304" pitchFamily="18" charset="0"/>
                <a:cs typeface="Tinos" panose="02020603050405020304" pitchFamily="18" charset="0"/>
              </a:rPr>
              <a:t>female</a:t>
            </a:r>
            <a:r>
              <a:rPr lang="en-US" sz="4500" noProof="0" dirty="0">
                <a:ea typeface="Tinos" panose="02020603050405020304" pitchFamily="18" charset="0"/>
                <a:cs typeface="Tinos" panose="02020603050405020304" pitchFamily="18" charset="0"/>
              </a:rPr>
              <a:t> in the U.S. (cm or in)?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8A39194A-D7FF-480E-4DB4-12D65DB4AD9D}"/>
              </a:ext>
            </a:extLst>
          </p:cNvPr>
          <p:cNvSpPr txBox="1"/>
          <p:nvPr/>
        </p:nvSpPr>
        <p:spPr>
          <a:xfrm>
            <a:off x="1434662" y="4167352"/>
            <a:ext cx="9322676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500" dirty="0">
                <a:solidFill>
                  <a:schemeClr val="accent2">
                    <a:lumMod val="75000"/>
                  </a:schemeClr>
                </a:solidFill>
                <a:latin typeface="Tinos" panose="02020603050405020304" pitchFamily="18" charset="0"/>
                <a:ea typeface="Tinos" panose="02020603050405020304" pitchFamily="18" charset="0"/>
                <a:cs typeface="Tinos" panose="02020603050405020304" pitchFamily="18" charset="0"/>
              </a:rPr>
              <a:t>161.3 cm or 63.5 in</a:t>
            </a:r>
            <a:endParaRPr lang="en-US" sz="4500" noProof="0" dirty="0">
              <a:solidFill>
                <a:schemeClr val="accent2">
                  <a:lumMod val="75000"/>
                </a:schemeClr>
              </a:solidFill>
              <a:latin typeface="Tinos" panose="02020603050405020304" pitchFamily="18" charset="0"/>
              <a:ea typeface="Tinos" panose="02020603050405020304" pitchFamily="18" charset="0"/>
              <a:cs typeface="Tino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28726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1C900-7C5B-47F0-9F6D-F1118E4EE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9F99C4EC-5F56-F38E-EB95-922895F766A1}"/>
              </a:ext>
            </a:extLst>
          </p:cNvPr>
          <p:cNvSpPr txBox="1"/>
          <p:nvPr/>
        </p:nvSpPr>
        <p:spPr>
          <a:xfrm>
            <a:off x="1434662" y="1671145"/>
            <a:ext cx="9322676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500" noProof="0" dirty="0">
                <a:ea typeface="Tinos" panose="02020603050405020304" pitchFamily="18" charset="0"/>
                <a:cs typeface="Tinos" panose="02020603050405020304" pitchFamily="18" charset="0"/>
              </a:rPr>
              <a:t>What is the average number of words on the front page of </a:t>
            </a:r>
            <a:r>
              <a:rPr lang="en-US" sz="4500" i="1" noProof="0" dirty="0">
                <a:ea typeface="Tinos" panose="02020603050405020304" pitchFamily="18" charset="0"/>
                <a:cs typeface="Tinos" panose="02020603050405020304" pitchFamily="18" charset="0"/>
              </a:rPr>
              <a:t>The New York Times</a:t>
            </a:r>
            <a:r>
              <a:rPr lang="en-US" sz="4500" noProof="0" dirty="0">
                <a:ea typeface="Tinos" panose="02020603050405020304" pitchFamily="18" charset="0"/>
                <a:cs typeface="Tinos" panose="02020603050405020304" pitchFamily="18" charset="0"/>
              </a:rPr>
              <a:t>?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B7E19F0D-C492-E066-A85D-553F92E3A465}"/>
              </a:ext>
            </a:extLst>
          </p:cNvPr>
          <p:cNvSpPr txBox="1"/>
          <p:nvPr/>
        </p:nvSpPr>
        <p:spPr>
          <a:xfrm>
            <a:off x="1434662" y="4167352"/>
            <a:ext cx="9322676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500" dirty="0">
                <a:solidFill>
                  <a:schemeClr val="accent2">
                    <a:lumMod val="75000"/>
                  </a:schemeClr>
                </a:solidFill>
                <a:latin typeface="Tinos" panose="02020603050405020304" pitchFamily="18" charset="0"/>
                <a:ea typeface="Tinos" panose="02020603050405020304" pitchFamily="18" charset="0"/>
                <a:cs typeface="Tinos" panose="02020603050405020304" pitchFamily="18" charset="0"/>
              </a:rPr>
              <a:t>1,700</a:t>
            </a:r>
            <a:endParaRPr lang="en-US" sz="4500" noProof="0" dirty="0">
              <a:solidFill>
                <a:schemeClr val="accent2">
                  <a:lumMod val="75000"/>
                </a:schemeClr>
              </a:solidFill>
              <a:latin typeface="Tinos" panose="02020603050405020304" pitchFamily="18" charset="0"/>
              <a:ea typeface="Tinos" panose="02020603050405020304" pitchFamily="18" charset="0"/>
              <a:cs typeface="Tino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044671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3A509A-269D-9736-D0F5-D58929C8E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9C576EBE-891D-D40A-03D3-B834D200D148}"/>
              </a:ext>
            </a:extLst>
          </p:cNvPr>
          <p:cNvSpPr txBox="1"/>
          <p:nvPr/>
        </p:nvSpPr>
        <p:spPr>
          <a:xfrm>
            <a:off x="1434662" y="1671145"/>
            <a:ext cx="9322676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500" noProof="0" dirty="0">
                <a:ea typeface="Tinos" panose="02020603050405020304" pitchFamily="18" charset="0"/>
                <a:cs typeface="Tinos" panose="02020603050405020304" pitchFamily="18" charset="0"/>
              </a:rPr>
              <a:t>What is the average number of words spoken by an English-speaking adult in the U.S.?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45C21DE7-1D16-B479-3E87-ED1F8B459503}"/>
              </a:ext>
            </a:extLst>
          </p:cNvPr>
          <p:cNvSpPr txBox="1"/>
          <p:nvPr/>
        </p:nvSpPr>
        <p:spPr>
          <a:xfrm>
            <a:off x="1434662" y="4167352"/>
            <a:ext cx="9322676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500" dirty="0">
                <a:solidFill>
                  <a:schemeClr val="accent2">
                    <a:lumMod val="75000"/>
                  </a:schemeClr>
                </a:solidFill>
                <a:latin typeface="Tinos" panose="02020603050405020304" pitchFamily="18" charset="0"/>
                <a:ea typeface="Tinos" panose="02020603050405020304" pitchFamily="18" charset="0"/>
                <a:cs typeface="Tinos" panose="02020603050405020304" pitchFamily="18" charset="0"/>
              </a:rPr>
              <a:t>16,000</a:t>
            </a:r>
            <a:endParaRPr lang="en-US" sz="4500" noProof="0" dirty="0">
              <a:solidFill>
                <a:schemeClr val="accent2">
                  <a:lumMod val="75000"/>
                </a:schemeClr>
              </a:solidFill>
              <a:latin typeface="Tinos" panose="02020603050405020304" pitchFamily="18" charset="0"/>
              <a:ea typeface="Tinos" panose="02020603050405020304" pitchFamily="18" charset="0"/>
              <a:cs typeface="Tino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12704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F9ECA3-1F1F-4D87-455A-4FCE7D0DC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39037FCF-F06C-DFD7-3647-004A0D32D26D}"/>
              </a:ext>
            </a:extLst>
          </p:cNvPr>
          <p:cNvSpPr txBox="1"/>
          <p:nvPr/>
        </p:nvSpPr>
        <p:spPr>
          <a:xfrm>
            <a:off x="1434662" y="1671145"/>
            <a:ext cx="9322676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noProof="0" dirty="0">
                <a:solidFill>
                  <a:schemeClr val="accent5">
                    <a:lumMod val="75000"/>
                  </a:schemeClr>
                </a:solidFill>
              </a:rPr>
              <a:t>ACTIVITY #2</a:t>
            </a:r>
          </a:p>
          <a:p>
            <a:pPr algn="ctr"/>
            <a:r>
              <a:rPr lang="en-US" sz="5000" i="1" dirty="0">
                <a:solidFill>
                  <a:schemeClr val="accent5">
                    <a:lumMod val="75000"/>
                  </a:schemeClr>
                </a:solidFill>
                <a:ea typeface="Tinos" panose="02020603050405020304" pitchFamily="18" charset="0"/>
                <a:cs typeface="Tinos" panose="02020603050405020304" pitchFamily="18" charset="0"/>
              </a:rPr>
              <a:t>memory game</a:t>
            </a:r>
            <a:endParaRPr lang="en-US" sz="5000" i="1" noProof="0" dirty="0">
              <a:solidFill>
                <a:schemeClr val="accent5">
                  <a:lumMod val="75000"/>
                </a:schemeClr>
              </a:solidFill>
              <a:ea typeface="Tinos" panose="02020603050405020304" pitchFamily="18" charset="0"/>
              <a:cs typeface="Tino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384707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CB58F8-6294-A4DE-CD8C-06D46996D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4C9CAC63-E235-6284-A775-95465CB5DFC3}"/>
              </a:ext>
            </a:extLst>
          </p:cNvPr>
          <p:cNvSpPr txBox="1"/>
          <p:nvPr/>
        </p:nvSpPr>
        <p:spPr>
          <a:xfrm>
            <a:off x="1434662" y="3036585"/>
            <a:ext cx="9322676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500" noProof="0" dirty="0">
                <a:ea typeface="Tinos" panose="02020603050405020304" pitchFamily="18" charset="0"/>
                <a:cs typeface="Tinos" panose="02020603050405020304" pitchFamily="18" charset="0"/>
              </a:rPr>
              <a:t>chair</a:t>
            </a:r>
          </a:p>
        </p:txBody>
      </p:sp>
    </p:spTree>
    <p:extLst>
      <p:ext uri="{BB962C8B-B14F-4D97-AF65-F5344CB8AC3E}">
        <p14:creationId xmlns:p14="http://schemas.microsoft.com/office/powerpoint/2010/main" val="20096120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" advClick="0" advTm="3000"/>
    </mc:Choice>
    <mc:Fallback xmlns="">
      <p:transition advClick="0" advTm="3000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FB169-9AFC-2532-2075-ACB9FEBFC1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5110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000"/>
    </mc:Choice>
    <mc:Fallback xmlns="">
      <p:transition spd="slow" advClick="0" advTm="1000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1304E1-7AAD-1AE0-1CC3-3DF58A79BD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98F8C039-0280-F115-6108-A59AE95F6252}"/>
              </a:ext>
            </a:extLst>
          </p:cNvPr>
          <p:cNvSpPr txBox="1"/>
          <p:nvPr/>
        </p:nvSpPr>
        <p:spPr>
          <a:xfrm>
            <a:off x="1434662" y="3036585"/>
            <a:ext cx="9322676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500" noProof="0" dirty="0">
                <a:ea typeface="Tinos" panose="02020603050405020304" pitchFamily="18" charset="0"/>
                <a:cs typeface="Tinos" panose="02020603050405020304" pitchFamily="18" charset="0"/>
              </a:rPr>
              <a:t>bright</a:t>
            </a:r>
          </a:p>
        </p:txBody>
      </p:sp>
    </p:spTree>
    <p:extLst>
      <p:ext uri="{BB962C8B-B14F-4D97-AF65-F5344CB8AC3E}">
        <p14:creationId xmlns:p14="http://schemas.microsoft.com/office/powerpoint/2010/main" val="12605906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000"/>
    </mc:Choice>
    <mc:Fallback xmlns="">
      <p:transition spd="slow" advClick="0" advTm="3000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404A54-77F9-C079-77EC-261023B94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92939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000"/>
    </mc:Choice>
    <mc:Fallback xmlns="">
      <p:transition spd="slow" advClick="0" advTm="1000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64344-CC9D-9F7E-C22D-1D64EF8B1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9DFEE6B8-5B79-D4E2-623C-063E2447A4DF}"/>
              </a:ext>
            </a:extLst>
          </p:cNvPr>
          <p:cNvSpPr txBox="1"/>
          <p:nvPr/>
        </p:nvSpPr>
        <p:spPr>
          <a:xfrm>
            <a:off x="1434662" y="3036585"/>
            <a:ext cx="9322676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500" noProof="0" dirty="0">
                <a:ea typeface="Tinos" panose="02020603050405020304" pitchFamily="18" charset="0"/>
                <a:cs typeface="Tinos" panose="02020603050405020304" pitchFamily="18" charset="0"/>
              </a:rPr>
              <a:t>window</a:t>
            </a:r>
          </a:p>
        </p:txBody>
      </p:sp>
    </p:spTree>
    <p:extLst>
      <p:ext uri="{BB962C8B-B14F-4D97-AF65-F5344CB8AC3E}">
        <p14:creationId xmlns:p14="http://schemas.microsoft.com/office/powerpoint/2010/main" val="432582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000"/>
    </mc:Choice>
    <mc:Fallback xmlns="">
      <p:transition spd="slow" advClick="0" advTm="3000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BF01F-5505-9DBF-9F68-884ABD7B2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0068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000"/>
    </mc:Choice>
    <mc:Fallback xmlns="">
      <p:transition spd="slow" advClick="0" advTm="1000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5CBF12-EC85-0063-304B-63D28ADF8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8F9B471B-CDF8-54B3-6008-5B91AAE1C04D}"/>
              </a:ext>
            </a:extLst>
          </p:cNvPr>
          <p:cNvSpPr txBox="1"/>
          <p:nvPr/>
        </p:nvSpPr>
        <p:spPr>
          <a:xfrm>
            <a:off x="1434662" y="3036585"/>
            <a:ext cx="9322676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500" noProof="0" dirty="0">
                <a:ea typeface="Tinos" panose="02020603050405020304" pitchFamily="18" charset="0"/>
                <a:cs typeface="Tinos" panose="02020603050405020304" pitchFamily="18" charset="0"/>
              </a:rPr>
              <a:t>heavy</a:t>
            </a:r>
          </a:p>
        </p:txBody>
      </p:sp>
    </p:spTree>
    <p:extLst>
      <p:ext uri="{BB962C8B-B14F-4D97-AF65-F5344CB8AC3E}">
        <p14:creationId xmlns:p14="http://schemas.microsoft.com/office/powerpoint/2010/main" val="2556176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000"/>
    </mc:Choice>
    <mc:Fallback xmlns="">
      <p:transition spd="slow" advClick="0" advTm="3000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2A5C36-EABF-971D-D7EB-CE0DF52DB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6282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000"/>
    </mc:Choice>
    <mc:Fallback xmlns="">
      <p:transition spd="slow" advClick="0" advTm="1000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CAAE0B-BC72-7A98-3E56-B73CECAF1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44893905-B90C-8C84-5C1D-CFF3D815F40B}"/>
              </a:ext>
            </a:extLst>
          </p:cNvPr>
          <p:cNvSpPr txBox="1"/>
          <p:nvPr/>
        </p:nvSpPr>
        <p:spPr>
          <a:xfrm>
            <a:off x="1434662" y="3036585"/>
            <a:ext cx="9322676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500" noProof="0" dirty="0">
                <a:ea typeface="Tinos" panose="02020603050405020304" pitchFamily="18" charset="0"/>
                <a:cs typeface="Tinos" panose="02020603050405020304" pitchFamily="18" charset="0"/>
              </a:rPr>
              <a:t>apple</a:t>
            </a:r>
          </a:p>
        </p:txBody>
      </p:sp>
    </p:spTree>
    <p:extLst>
      <p:ext uri="{BB962C8B-B14F-4D97-AF65-F5344CB8AC3E}">
        <p14:creationId xmlns:p14="http://schemas.microsoft.com/office/powerpoint/2010/main" val="1920512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000"/>
    </mc:Choice>
    <mc:Fallback xmlns="">
      <p:transition spd="slow" advClick="0" advTm="3000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4339B3-EDC4-F687-C12F-7B30D1277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66862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000"/>
    </mc:Choice>
    <mc:Fallback xmlns="">
      <p:transition spd="slow" advClick="0" advTm="1000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B577BB-D3A6-C598-512F-87A280295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07CCBDF9-63EB-768C-4669-54E53629F097}"/>
              </a:ext>
            </a:extLst>
          </p:cNvPr>
          <p:cNvSpPr txBox="1"/>
          <p:nvPr/>
        </p:nvSpPr>
        <p:spPr>
          <a:xfrm>
            <a:off x="1434662" y="3036585"/>
            <a:ext cx="9322676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500" noProof="0" dirty="0">
                <a:ea typeface="Tinos" panose="02020603050405020304" pitchFamily="18" charset="0"/>
                <a:cs typeface="Tinos" panose="02020603050405020304" pitchFamily="18" charset="0"/>
              </a:rPr>
              <a:t>smooth</a:t>
            </a:r>
          </a:p>
        </p:txBody>
      </p:sp>
    </p:spTree>
    <p:extLst>
      <p:ext uri="{BB962C8B-B14F-4D97-AF65-F5344CB8AC3E}">
        <p14:creationId xmlns:p14="http://schemas.microsoft.com/office/powerpoint/2010/main" val="2895912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000"/>
    </mc:Choice>
    <mc:Fallback xmlns="">
      <p:transition spd="slow" advClick="0" advTm="3000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91A2F3-D3F0-537A-079A-11FBD9117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6615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000"/>
    </mc:Choice>
    <mc:Fallback xmlns="">
      <p:transition spd="slow" advClick="0" advTm="1000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32721F-5E3D-D6E7-B038-150DAFB54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A4BD66D2-5BA2-E7C6-704B-4A2B5005B5E1}"/>
              </a:ext>
            </a:extLst>
          </p:cNvPr>
          <p:cNvSpPr txBox="1"/>
          <p:nvPr/>
        </p:nvSpPr>
        <p:spPr>
          <a:xfrm>
            <a:off x="1434662" y="3036585"/>
            <a:ext cx="9322676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500" noProof="0" dirty="0">
                <a:ea typeface="Tinos" panose="02020603050405020304" pitchFamily="18" charset="0"/>
                <a:cs typeface="Tinos" panose="02020603050405020304" pitchFamily="18" charset="0"/>
              </a:rPr>
              <a:t>bottle</a:t>
            </a:r>
          </a:p>
        </p:txBody>
      </p:sp>
    </p:spTree>
    <p:extLst>
      <p:ext uri="{BB962C8B-B14F-4D97-AF65-F5344CB8AC3E}">
        <p14:creationId xmlns:p14="http://schemas.microsoft.com/office/powerpoint/2010/main" val="1162156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000"/>
    </mc:Choice>
    <mc:Fallback xmlns="">
      <p:transition spd="slow" advClick="0" advTm="3000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E7D5AA-3E84-B631-CEB7-3864B74F1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9707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000"/>
    </mc:Choice>
    <mc:Fallback xmlns="">
      <p:transition spd="slow" advClick="0" advTm="1000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8173D-0D78-E0A2-30E2-371A5285E3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E85E96FA-458D-FF57-F38F-8192571F3110}"/>
              </a:ext>
            </a:extLst>
          </p:cNvPr>
          <p:cNvSpPr txBox="1"/>
          <p:nvPr/>
        </p:nvSpPr>
        <p:spPr>
          <a:xfrm>
            <a:off x="1434662" y="3036585"/>
            <a:ext cx="9322676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500" noProof="0" dirty="0">
                <a:ea typeface="Tinos" panose="02020603050405020304" pitchFamily="18" charset="0"/>
                <a:cs typeface="Tinos" panose="02020603050405020304" pitchFamily="18" charset="0"/>
              </a:rPr>
              <a:t>quiet</a:t>
            </a:r>
          </a:p>
        </p:txBody>
      </p:sp>
    </p:spTree>
    <p:extLst>
      <p:ext uri="{BB962C8B-B14F-4D97-AF65-F5344CB8AC3E}">
        <p14:creationId xmlns:p14="http://schemas.microsoft.com/office/powerpoint/2010/main" val="3042781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000"/>
    </mc:Choice>
    <mc:Fallback xmlns="">
      <p:transition spd="slow" advClick="0" advTm="3000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F2AAC6-5001-44E3-F290-EF8C42C43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6089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000"/>
    </mc:Choice>
    <mc:Fallback xmlns="">
      <p:transition spd="slow" advClick="0" advTm="1000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A13942-8727-0808-6AA7-DCAD6AA74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C2F90DBB-743D-C527-91E4-43937C515C16}"/>
              </a:ext>
            </a:extLst>
          </p:cNvPr>
          <p:cNvSpPr txBox="1"/>
          <p:nvPr/>
        </p:nvSpPr>
        <p:spPr>
          <a:xfrm>
            <a:off x="1434662" y="3036585"/>
            <a:ext cx="9322676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500" noProof="0" dirty="0">
                <a:ea typeface="Tinos" panose="02020603050405020304" pitchFamily="18" charset="0"/>
                <a:cs typeface="Tinos" panose="02020603050405020304" pitchFamily="18" charset="0"/>
              </a:rPr>
              <a:t>stone</a:t>
            </a:r>
          </a:p>
        </p:txBody>
      </p:sp>
    </p:spTree>
    <p:extLst>
      <p:ext uri="{BB962C8B-B14F-4D97-AF65-F5344CB8AC3E}">
        <p14:creationId xmlns:p14="http://schemas.microsoft.com/office/powerpoint/2010/main" val="1268721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000"/>
    </mc:Choice>
    <mc:Fallback xmlns="">
      <p:transition spd="slow" advClick="0" advTm="3000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3D3875-06B9-6460-BDDB-B1E2A6D82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9246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000"/>
    </mc:Choice>
    <mc:Fallback xmlns="">
      <p:transition spd="slow" advClick="0" advTm="1000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322A2-2782-C1CA-B178-3681994081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C8160F31-5F92-6E23-B04E-755265C74471}"/>
              </a:ext>
            </a:extLst>
          </p:cNvPr>
          <p:cNvSpPr txBox="1"/>
          <p:nvPr/>
        </p:nvSpPr>
        <p:spPr>
          <a:xfrm>
            <a:off x="1434662" y="3036585"/>
            <a:ext cx="9322676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500" noProof="0" dirty="0">
                <a:ea typeface="Tinos" panose="02020603050405020304" pitchFamily="18" charset="0"/>
                <a:cs typeface="Tinos" panose="02020603050405020304" pitchFamily="18" charset="0"/>
              </a:rPr>
              <a:t>yellow</a:t>
            </a:r>
          </a:p>
        </p:txBody>
      </p:sp>
    </p:spTree>
    <p:extLst>
      <p:ext uri="{BB962C8B-B14F-4D97-AF65-F5344CB8AC3E}">
        <p14:creationId xmlns:p14="http://schemas.microsoft.com/office/powerpoint/2010/main" val="642200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000"/>
    </mc:Choice>
    <mc:Fallback xmlns="">
      <p:transition spd="slow" advClick="0" advTm="3000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1FAF2C-7CA1-CAF1-DC6E-471E650ECD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7936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000"/>
    </mc:Choice>
    <mc:Fallback xmlns="">
      <p:transition spd="slow" advClick="0" advTm="1000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797257-4C3A-733A-982A-F402754C9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47B4339C-BF52-BCEE-AB37-C0C326FAAEF0}"/>
              </a:ext>
            </a:extLst>
          </p:cNvPr>
          <p:cNvSpPr txBox="1"/>
          <p:nvPr/>
        </p:nvSpPr>
        <p:spPr>
          <a:xfrm>
            <a:off x="1434662" y="3036585"/>
            <a:ext cx="9322676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500" noProof="0" dirty="0">
                <a:ea typeface="Tinos" panose="02020603050405020304" pitchFamily="18" charset="0"/>
                <a:cs typeface="Tinos" panose="02020603050405020304" pitchFamily="18" charset="0"/>
              </a:rPr>
              <a:t>cloud</a:t>
            </a:r>
          </a:p>
        </p:txBody>
      </p:sp>
    </p:spTree>
    <p:extLst>
      <p:ext uri="{BB962C8B-B14F-4D97-AF65-F5344CB8AC3E}">
        <p14:creationId xmlns:p14="http://schemas.microsoft.com/office/powerpoint/2010/main" val="4099992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000"/>
    </mc:Choice>
    <mc:Fallback xmlns="">
      <p:transition spd="slow" advClick="0" advTm="3000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01F701-9AE3-0F8A-9FFB-D6F61FEDA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65258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000"/>
    </mc:Choice>
    <mc:Fallback xmlns="">
      <p:transition spd="slow" advClick="0" advTm="1000"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E52F32-5BED-8BAF-8F60-9CD515A47C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1BE2FF2A-646C-3682-D6F7-2F1CE2DDED05}"/>
              </a:ext>
            </a:extLst>
          </p:cNvPr>
          <p:cNvSpPr txBox="1"/>
          <p:nvPr/>
        </p:nvSpPr>
        <p:spPr>
          <a:xfrm>
            <a:off x="1434662" y="3036585"/>
            <a:ext cx="9322676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500" noProof="0" dirty="0">
                <a:ea typeface="Tinos" panose="02020603050405020304" pitchFamily="18" charset="0"/>
                <a:cs typeface="Tinos" panose="02020603050405020304" pitchFamily="18" charset="0"/>
              </a:rPr>
              <a:t>sharp</a:t>
            </a:r>
          </a:p>
        </p:txBody>
      </p:sp>
    </p:spTree>
    <p:extLst>
      <p:ext uri="{BB962C8B-B14F-4D97-AF65-F5344CB8AC3E}">
        <p14:creationId xmlns:p14="http://schemas.microsoft.com/office/powerpoint/2010/main" val="4162844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000"/>
    </mc:Choice>
    <mc:Fallback xmlns="">
      <p:transition spd="slow" advClick="0" advTm="3000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340597-FADD-94C8-9FCF-FC3272EA9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5877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000"/>
    </mc:Choice>
    <mc:Fallback xmlns="">
      <p:transition spd="slow" advClick="0" advTm="1000"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0CA42-CDF0-4E5C-0FF9-FBCB9E6B5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DE57860F-E61F-2A49-0732-9CC7965E776F}"/>
              </a:ext>
            </a:extLst>
          </p:cNvPr>
          <p:cNvSpPr txBox="1"/>
          <p:nvPr/>
        </p:nvSpPr>
        <p:spPr>
          <a:xfrm>
            <a:off x="1434662" y="3036585"/>
            <a:ext cx="9322676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500" noProof="0" dirty="0">
                <a:ea typeface="Tinos" panose="02020603050405020304" pitchFamily="18" charset="0"/>
                <a:cs typeface="Tinos" panose="02020603050405020304" pitchFamily="18" charset="0"/>
              </a:rPr>
              <a:t>carpet</a:t>
            </a:r>
          </a:p>
        </p:txBody>
      </p:sp>
    </p:spTree>
    <p:extLst>
      <p:ext uri="{BB962C8B-B14F-4D97-AF65-F5344CB8AC3E}">
        <p14:creationId xmlns:p14="http://schemas.microsoft.com/office/powerpoint/2010/main" val="1524783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000"/>
    </mc:Choice>
    <mc:Fallback xmlns="">
      <p:transition spd="slow" advClick="0" advTm="3000"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433294-8E9B-3589-52ED-BFF2C467F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66728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000"/>
    </mc:Choice>
    <mc:Fallback xmlns="">
      <p:transition spd="slow" advClick="0" advTm="1000"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844882-D33E-09FC-5C1C-B786E99B9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570C1469-F015-7730-F184-0BCEA8758732}"/>
              </a:ext>
            </a:extLst>
          </p:cNvPr>
          <p:cNvSpPr txBox="1"/>
          <p:nvPr/>
        </p:nvSpPr>
        <p:spPr>
          <a:xfrm>
            <a:off x="1434662" y="3036585"/>
            <a:ext cx="9322676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500" noProof="0" dirty="0">
                <a:ea typeface="Tinos" panose="02020603050405020304" pitchFamily="18" charset="0"/>
                <a:cs typeface="Tinos" panose="02020603050405020304" pitchFamily="18" charset="0"/>
              </a:rPr>
              <a:t>fuck</a:t>
            </a:r>
          </a:p>
        </p:txBody>
      </p:sp>
    </p:spTree>
    <p:extLst>
      <p:ext uri="{BB962C8B-B14F-4D97-AF65-F5344CB8AC3E}">
        <p14:creationId xmlns:p14="http://schemas.microsoft.com/office/powerpoint/2010/main" val="1648784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000"/>
    </mc:Choice>
    <mc:Fallback xmlns="">
      <p:transition spd="slow" advClick="0" advTm="3000"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D1655-6872-A451-BF5E-B9CE881EC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48650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000"/>
    </mc:Choice>
    <mc:Fallback xmlns="">
      <p:transition spd="slow" advClick="0" advTm="1000"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E04BE4-F742-198E-217C-6EB99A271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F019BC67-E96C-73B8-1C9B-DA37F522C479}"/>
              </a:ext>
            </a:extLst>
          </p:cNvPr>
          <p:cNvSpPr txBox="1"/>
          <p:nvPr/>
        </p:nvSpPr>
        <p:spPr>
          <a:xfrm>
            <a:off x="1434662" y="3036585"/>
            <a:ext cx="9322676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500" noProof="0" dirty="0">
                <a:ea typeface="Tinos" panose="02020603050405020304" pitchFamily="18" charset="0"/>
                <a:cs typeface="Tinos" panose="02020603050405020304" pitchFamily="18" charset="0"/>
              </a:rPr>
              <a:t>cold</a:t>
            </a:r>
          </a:p>
        </p:txBody>
      </p:sp>
    </p:spTree>
    <p:extLst>
      <p:ext uri="{BB962C8B-B14F-4D97-AF65-F5344CB8AC3E}">
        <p14:creationId xmlns:p14="http://schemas.microsoft.com/office/powerpoint/2010/main" val="2209212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000"/>
    </mc:Choice>
    <mc:Fallback xmlns="">
      <p:transition spd="slow" advClick="0" advTm="3000"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7C5B62-2B92-82D4-E0D2-789B3566E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6228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000"/>
    </mc:Choice>
    <mc:Fallback xmlns="">
      <p:transition spd="slow" advClick="0" advTm="1000"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022740-2E2D-7100-C74A-F4DC1EDBA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9368F1C0-0DF6-4E4E-0CE2-6BEBDE4B1F1C}"/>
              </a:ext>
            </a:extLst>
          </p:cNvPr>
          <p:cNvSpPr txBox="1"/>
          <p:nvPr/>
        </p:nvSpPr>
        <p:spPr>
          <a:xfrm>
            <a:off x="1434662" y="3036585"/>
            <a:ext cx="9322676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500" noProof="0" dirty="0">
                <a:ea typeface="Tinos" panose="02020603050405020304" pitchFamily="18" charset="0"/>
                <a:cs typeface="Tinos" panose="02020603050405020304" pitchFamily="18" charset="0"/>
              </a:rPr>
              <a:t>river</a:t>
            </a:r>
          </a:p>
        </p:txBody>
      </p:sp>
    </p:spTree>
    <p:extLst>
      <p:ext uri="{BB962C8B-B14F-4D97-AF65-F5344CB8AC3E}">
        <p14:creationId xmlns:p14="http://schemas.microsoft.com/office/powerpoint/2010/main" val="2728585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000"/>
    </mc:Choice>
    <mc:Fallback xmlns="">
      <p:transition spd="slow" advClick="0" advTm="3000"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084ED4-6AA1-F7D5-5293-24E862042A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9170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000"/>
    </mc:Choice>
    <mc:Fallback xmlns="">
      <p:transition spd="slow" advClick="0" advTm="1000"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1DDED7-30C4-A8CA-C0DA-E238B558B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1BABB628-B1A0-137E-A16A-7B2D9AA9434C}"/>
              </a:ext>
            </a:extLst>
          </p:cNvPr>
          <p:cNvSpPr txBox="1"/>
          <p:nvPr/>
        </p:nvSpPr>
        <p:spPr>
          <a:xfrm>
            <a:off x="1434662" y="3036585"/>
            <a:ext cx="9322676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500" noProof="0" dirty="0">
                <a:ea typeface="Tinos" panose="02020603050405020304" pitchFamily="18" charset="0"/>
                <a:cs typeface="Tinos" panose="02020603050405020304" pitchFamily="18" charset="0"/>
              </a:rPr>
              <a:t>metal</a:t>
            </a:r>
          </a:p>
        </p:txBody>
      </p:sp>
    </p:spTree>
    <p:extLst>
      <p:ext uri="{BB962C8B-B14F-4D97-AF65-F5344CB8AC3E}">
        <p14:creationId xmlns:p14="http://schemas.microsoft.com/office/powerpoint/2010/main" val="1202673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000"/>
    </mc:Choice>
    <mc:Fallback xmlns="">
      <p:transition spd="slow" advClick="0" advTm="3000"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9DE870-5EEF-C32D-9648-1719755D3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374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000"/>
    </mc:Choice>
    <mc:Fallback xmlns="">
      <p:transition spd="slow" advClick="0" advTm="1000"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9B8DF5-BDC0-0566-241B-1B07B5342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6816D83B-72BC-CE25-C1B4-FDE3E3921ED7}"/>
              </a:ext>
            </a:extLst>
          </p:cNvPr>
          <p:cNvSpPr txBox="1"/>
          <p:nvPr/>
        </p:nvSpPr>
        <p:spPr>
          <a:xfrm>
            <a:off x="1434662" y="3036585"/>
            <a:ext cx="9322676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500" noProof="0" dirty="0">
                <a:ea typeface="Tinos" panose="02020603050405020304" pitchFamily="18" charset="0"/>
                <a:cs typeface="Tinos" panose="02020603050405020304" pitchFamily="18" charset="0"/>
              </a:rPr>
              <a:t>bread</a:t>
            </a:r>
          </a:p>
        </p:txBody>
      </p:sp>
    </p:spTree>
    <p:extLst>
      <p:ext uri="{BB962C8B-B14F-4D97-AF65-F5344CB8AC3E}">
        <p14:creationId xmlns:p14="http://schemas.microsoft.com/office/powerpoint/2010/main" val="800601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000"/>
    </mc:Choice>
    <mc:Fallback xmlns="">
      <p:transition spd="slow" advClick="0" advTm="3000"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E0FE4F-FA64-FE37-B018-7972413A8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11667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000"/>
    </mc:Choice>
    <mc:Fallback xmlns="">
      <p:transition spd="slow" advClick="0" advTm="1000"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076F2-9B66-CEF3-7D92-0DDAC711C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BEE507F5-8B35-91B8-16EA-76EF3CEFBF2C}"/>
              </a:ext>
            </a:extLst>
          </p:cNvPr>
          <p:cNvSpPr txBox="1"/>
          <p:nvPr/>
        </p:nvSpPr>
        <p:spPr>
          <a:xfrm>
            <a:off x="1434662" y="3036585"/>
            <a:ext cx="9322676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500" noProof="0" dirty="0">
                <a:ea typeface="Tinos" panose="02020603050405020304" pitchFamily="18" charset="0"/>
                <a:cs typeface="Tinos" panose="02020603050405020304" pitchFamily="18" charset="0"/>
              </a:rPr>
              <a:t>circle</a:t>
            </a:r>
          </a:p>
        </p:txBody>
      </p:sp>
    </p:spTree>
    <p:extLst>
      <p:ext uri="{BB962C8B-B14F-4D97-AF65-F5344CB8AC3E}">
        <p14:creationId xmlns:p14="http://schemas.microsoft.com/office/powerpoint/2010/main" val="1178436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000"/>
    </mc:Choice>
    <mc:Fallback xmlns="">
      <p:transition spd="slow" advClick="0" advTm="3000"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98421C-AB3B-D5B5-AD04-D17D3CFEA6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1102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000"/>
    </mc:Choice>
    <mc:Fallback xmlns="">
      <p:transition spd="slow" advClick="0" advTm="1000"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40C1E-2C13-5FE6-B894-2CED1ADC8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E7BE2B94-68D3-6F0F-480E-A6F59866F0A1}"/>
              </a:ext>
            </a:extLst>
          </p:cNvPr>
          <p:cNvSpPr txBox="1"/>
          <p:nvPr/>
        </p:nvSpPr>
        <p:spPr>
          <a:xfrm>
            <a:off x="1434662" y="3036585"/>
            <a:ext cx="9322676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500" noProof="0" dirty="0">
                <a:ea typeface="Tinos" panose="02020603050405020304" pitchFamily="18" charset="0"/>
                <a:cs typeface="Tinos" panose="02020603050405020304" pitchFamily="18" charset="0"/>
              </a:rPr>
              <a:t>wooden</a:t>
            </a:r>
          </a:p>
        </p:txBody>
      </p:sp>
    </p:spTree>
    <p:extLst>
      <p:ext uri="{BB962C8B-B14F-4D97-AF65-F5344CB8AC3E}">
        <p14:creationId xmlns:p14="http://schemas.microsoft.com/office/powerpoint/2010/main" val="2005750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000"/>
    </mc:Choice>
    <mc:Fallback xmlns="">
      <p:transition spd="slow" advClick="0" advTm="3000"/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44E7C8-2181-8752-EBCD-B36731DC4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6689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000"/>
    </mc:Choice>
    <mc:Fallback xmlns="">
      <p:transition spd="slow" advClick="0" advTm="1000"/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4BC010-4E4D-2D35-75E2-A5B0560B0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82FFBADC-5462-AC41-3E15-E3D14C7ACB55}"/>
              </a:ext>
            </a:extLst>
          </p:cNvPr>
          <p:cNvSpPr txBox="1"/>
          <p:nvPr/>
        </p:nvSpPr>
        <p:spPr>
          <a:xfrm>
            <a:off x="1434662" y="1671145"/>
            <a:ext cx="93226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noProof="0" dirty="0">
                <a:solidFill>
                  <a:schemeClr val="accent5">
                    <a:lumMod val="75000"/>
                  </a:schemeClr>
                </a:solidFill>
              </a:rPr>
              <a:t>Answers</a:t>
            </a:r>
            <a:endParaRPr lang="en-US" sz="5000" b="1" i="1" noProof="0" dirty="0">
              <a:solidFill>
                <a:schemeClr val="accent5">
                  <a:lumMod val="75000"/>
                </a:schemeClr>
              </a:solidFill>
              <a:ea typeface="Tinos" panose="02020603050405020304" pitchFamily="18" charset="0"/>
              <a:cs typeface="Tino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402853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5C6D42-78AE-26EB-4105-1D3A8A466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6DF96E36-111D-AE30-28D7-7B68B06F0C83}"/>
              </a:ext>
            </a:extLst>
          </p:cNvPr>
          <p:cNvSpPr txBox="1"/>
          <p:nvPr/>
        </p:nvSpPr>
        <p:spPr>
          <a:xfrm>
            <a:off x="3505201" y="1408386"/>
            <a:ext cx="242263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noProof="0" dirty="0">
                <a:solidFill>
                  <a:schemeClr val="bg1">
                    <a:lumMod val="75000"/>
                  </a:schemeClr>
                </a:solidFill>
              </a:rPr>
              <a:t>1. </a:t>
            </a:r>
            <a:r>
              <a:rPr lang="en-US" sz="2400" b="1" noProof="0" dirty="0"/>
              <a:t>chair</a:t>
            </a:r>
          </a:p>
          <a:p>
            <a:r>
              <a:rPr lang="en-US" sz="2400" noProof="0" dirty="0">
                <a:solidFill>
                  <a:schemeClr val="bg1">
                    <a:lumMod val="75000"/>
                  </a:schemeClr>
                </a:solidFill>
              </a:rPr>
              <a:t>2. </a:t>
            </a:r>
            <a:r>
              <a:rPr lang="en-US" sz="2400" b="1" noProof="0" dirty="0"/>
              <a:t>bright</a:t>
            </a:r>
          </a:p>
          <a:p>
            <a:r>
              <a:rPr lang="en-US" sz="2400" noProof="0" dirty="0">
                <a:solidFill>
                  <a:schemeClr val="bg1">
                    <a:lumMod val="75000"/>
                  </a:schemeClr>
                </a:solidFill>
              </a:rPr>
              <a:t>3. </a:t>
            </a:r>
            <a:r>
              <a:rPr lang="en-US" sz="2400" b="1" noProof="0" dirty="0"/>
              <a:t>window</a:t>
            </a:r>
          </a:p>
          <a:p>
            <a:r>
              <a:rPr lang="en-US" sz="2400" noProof="0" dirty="0">
                <a:solidFill>
                  <a:schemeClr val="bg1">
                    <a:lumMod val="75000"/>
                  </a:schemeClr>
                </a:solidFill>
              </a:rPr>
              <a:t>4. </a:t>
            </a:r>
            <a:r>
              <a:rPr lang="en-US" sz="2400" b="1" noProof="0" dirty="0"/>
              <a:t>heavy</a:t>
            </a:r>
          </a:p>
          <a:p>
            <a:r>
              <a:rPr lang="en-US" sz="2400" noProof="0" dirty="0">
                <a:solidFill>
                  <a:schemeClr val="bg1">
                    <a:lumMod val="75000"/>
                  </a:schemeClr>
                </a:solidFill>
              </a:rPr>
              <a:t>5. </a:t>
            </a:r>
            <a:r>
              <a:rPr lang="en-US" sz="2400" b="1" noProof="0" dirty="0"/>
              <a:t>apple</a:t>
            </a:r>
          </a:p>
          <a:p>
            <a:r>
              <a:rPr lang="en-US" sz="2400" noProof="0" dirty="0">
                <a:solidFill>
                  <a:schemeClr val="bg1">
                    <a:lumMod val="75000"/>
                  </a:schemeClr>
                </a:solidFill>
              </a:rPr>
              <a:t>6. </a:t>
            </a:r>
            <a:r>
              <a:rPr lang="en-US" sz="2400" b="1" noProof="0" dirty="0"/>
              <a:t>smooth</a:t>
            </a:r>
          </a:p>
          <a:p>
            <a:r>
              <a:rPr lang="en-US" sz="2400" noProof="0" dirty="0">
                <a:solidFill>
                  <a:schemeClr val="bg1">
                    <a:lumMod val="75000"/>
                  </a:schemeClr>
                </a:solidFill>
              </a:rPr>
              <a:t>7. </a:t>
            </a:r>
            <a:r>
              <a:rPr lang="en-US" sz="2400" b="1" noProof="0" dirty="0"/>
              <a:t>bottle</a:t>
            </a:r>
          </a:p>
          <a:p>
            <a:r>
              <a:rPr lang="en-US" sz="2400" noProof="0" dirty="0">
                <a:solidFill>
                  <a:schemeClr val="bg1">
                    <a:lumMod val="75000"/>
                  </a:schemeClr>
                </a:solidFill>
              </a:rPr>
              <a:t>8. </a:t>
            </a:r>
            <a:r>
              <a:rPr lang="en-US" sz="2400" b="1" noProof="0" dirty="0"/>
              <a:t>quiet</a:t>
            </a:r>
          </a:p>
          <a:p>
            <a:r>
              <a:rPr lang="en-US" sz="2400" noProof="0" dirty="0">
                <a:solidFill>
                  <a:schemeClr val="bg1">
                    <a:lumMod val="75000"/>
                  </a:schemeClr>
                </a:solidFill>
              </a:rPr>
              <a:t>9. </a:t>
            </a:r>
            <a:r>
              <a:rPr lang="en-US" sz="2400" b="1" noProof="0" dirty="0"/>
              <a:t>stone</a:t>
            </a:r>
          </a:p>
          <a:p>
            <a:r>
              <a:rPr lang="en-US" sz="2400" noProof="0" dirty="0">
                <a:solidFill>
                  <a:schemeClr val="bg1">
                    <a:lumMod val="75000"/>
                  </a:schemeClr>
                </a:solidFill>
              </a:rPr>
              <a:t>10. </a:t>
            </a:r>
            <a:r>
              <a:rPr lang="en-US" sz="2400" b="1" noProof="0" dirty="0"/>
              <a:t>yellow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CBF92A47-1335-06F4-6A81-D45AF92C1E39}"/>
              </a:ext>
            </a:extLst>
          </p:cNvPr>
          <p:cNvSpPr txBox="1"/>
          <p:nvPr/>
        </p:nvSpPr>
        <p:spPr>
          <a:xfrm>
            <a:off x="6789683" y="1408386"/>
            <a:ext cx="292187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noProof="0" dirty="0">
                <a:solidFill>
                  <a:schemeClr val="bg1">
                    <a:lumMod val="75000"/>
                  </a:schemeClr>
                </a:solidFill>
              </a:rPr>
              <a:t>11. </a:t>
            </a:r>
            <a:r>
              <a:rPr lang="en-US" sz="2400" b="1" noProof="0" dirty="0"/>
              <a:t>cloud</a:t>
            </a:r>
          </a:p>
          <a:p>
            <a:r>
              <a:rPr lang="en-US" sz="2400" noProof="0" dirty="0">
                <a:solidFill>
                  <a:schemeClr val="bg1">
                    <a:lumMod val="75000"/>
                  </a:schemeClr>
                </a:solidFill>
              </a:rPr>
              <a:t>12. </a:t>
            </a:r>
            <a:r>
              <a:rPr lang="en-US" sz="2400" b="1" noProof="0" dirty="0"/>
              <a:t>sharp</a:t>
            </a:r>
          </a:p>
          <a:p>
            <a:r>
              <a:rPr lang="en-US" sz="2400" noProof="0" dirty="0">
                <a:solidFill>
                  <a:schemeClr val="bg1">
                    <a:lumMod val="75000"/>
                  </a:schemeClr>
                </a:solidFill>
              </a:rPr>
              <a:t>13. </a:t>
            </a:r>
            <a:r>
              <a:rPr lang="en-US" sz="2400" b="1" noProof="0" dirty="0"/>
              <a:t>fuck</a:t>
            </a:r>
          </a:p>
          <a:p>
            <a:r>
              <a:rPr lang="en-US" sz="2400" noProof="0" dirty="0">
                <a:solidFill>
                  <a:schemeClr val="bg1">
                    <a:lumMod val="75000"/>
                  </a:schemeClr>
                </a:solidFill>
              </a:rPr>
              <a:t>14. </a:t>
            </a:r>
            <a:r>
              <a:rPr lang="en-US" sz="2400" b="1" noProof="0" dirty="0"/>
              <a:t>cold</a:t>
            </a:r>
          </a:p>
          <a:p>
            <a:r>
              <a:rPr lang="en-US" sz="2400" noProof="0" dirty="0">
                <a:solidFill>
                  <a:schemeClr val="bg1">
                    <a:lumMod val="75000"/>
                  </a:schemeClr>
                </a:solidFill>
              </a:rPr>
              <a:t>15. </a:t>
            </a:r>
            <a:r>
              <a:rPr lang="en-US" sz="2400" b="1" noProof="0" dirty="0"/>
              <a:t>river</a:t>
            </a:r>
          </a:p>
          <a:p>
            <a:r>
              <a:rPr lang="en-US" sz="2400" noProof="0" dirty="0">
                <a:solidFill>
                  <a:schemeClr val="bg1">
                    <a:lumMod val="75000"/>
                  </a:schemeClr>
                </a:solidFill>
              </a:rPr>
              <a:t>16. </a:t>
            </a:r>
            <a:r>
              <a:rPr lang="en-US" sz="2400" b="1" noProof="0" dirty="0"/>
              <a:t>metal</a:t>
            </a:r>
          </a:p>
          <a:p>
            <a:r>
              <a:rPr lang="en-US" sz="2400" noProof="0" dirty="0">
                <a:solidFill>
                  <a:schemeClr val="bg1">
                    <a:lumMod val="75000"/>
                  </a:schemeClr>
                </a:solidFill>
              </a:rPr>
              <a:t>17. </a:t>
            </a:r>
            <a:r>
              <a:rPr lang="en-US" sz="2400" b="1" noProof="0" dirty="0"/>
              <a:t>slow</a:t>
            </a:r>
          </a:p>
          <a:p>
            <a:r>
              <a:rPr lang="en-US" sz="2400" noProof="0" dirty="0">
                <a:solidFill>
                  <a:schemeClr val="bg1">
                    <a:lumMod val="75000"/>
                  </a:schemeClr>
                </a:solidFill>
              </a:rPr>
              <a:t>18. </a:t>
            </a:r>
            <a:r>
              <a:rPr lang="en-US" sz="2400" b="1" noProof="0" dirty="0"/>
              <a:t>bread</a:t>
            </a:r>
          </a:p>
          <a:p>
            <a:r>
              <a:rPr lang="en-US" sz="2400" noProof="0" dirty="0">
                <a:solidFill>
                  <a:schemeClr val="bg1">
                    <a:lumMod val="75000"/>
                  </a:schemeClr>
                </a:solidFill>
              </a:rPr>
              <a:t>19. </a:t>
            </a:r>
            <a:r>
              <a:rPr lang="en-US" sz="2400" b="1" noProof="0" dirty="0"/>
              <a:t>circle</a:t>
            </a:r>
          </a:p>
          <a:p>
            <a:r>
              <a:rPr lang="en-US" sz="2400" noProof="0" dirty="0">
                <a:solidFill>
                  <a:schemeClr val="bg1">
                    <a:lumMod val="75000"/>
                  </a:schemeClr>
                </a:solidFill>
              </a:rPr>
              <a:t>20. </a:t>
            </a:r>
            <a:r>
              <a:rPr lang="en-US" sz="2400" b="1" noProof="0" dirty="0"/>
              <a:t>wooden</a:t>
            </a:r>
            <a:endParaRPr lang="en-US" sz="2400" b="1" i="1" noProof="0" dirty="0">
              <a:ea typeface="Tinos" panose="02020603050405020304" pitchFamily="18" charset="0"/>
              <a:cs typeface="Tino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263634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AC5036-3008-F9E8-4ECF-236569243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66B961CA-3662-B836-43F4-15C778610234}"/>
              </a:ext>
            </a:extLst>
          </p:cNvPr>
          <p:cNvSpPr txBox="1"/>
          <p:nvPr/>
        </p:nvSpPr>
        <p:spPr>
          <a:xfrm>
            <a:off x="1434662" y="1671145"/>
            <a:ext cx="9322676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noProof="0" dirty="0">
                <a:solidFill>
                  <a:schemeClr val="accent5">
                    <a:lumMod val="75000"/>
                  </a:schemeClr>
                </a:solidFill>
              </a:rPr>
              <a:t>ACTIVITY #3</a:t>
            </a:r>
          </a:p>
          <a:p>
            <a:pPr algn="ctr"/>
            <a:r>
              <a:rPr lang="en-US" sz="5000" i="1" noProof="0" dirty="0">
                <a:solidFill>
                  <a:schemeClr val="accent5">
                    <a:lumMod val="75000"/>
                  </a:schemeClr>
                </a:solidFill>
                <a:ea typeface="Tinos" panose="02020603050405020304" pitchFamily="18" charset="0"/>
                <a:cs typeface="Tinos" panose="02020603050405020304" pitchFamily="18" charset="0"/>
              </a:rPr>
              <a:t>video</a:t>
            </a:r>
          </a:p>
        </p:txBody>
      </p:sp>
    </p:spTree>
    <p:extLst>
      <p:ext uri="{BB962C8B-B14F-4D97-AF65-F5344CB8AC3E}">
        <p14:creationId xmlns:p14="http://schemas.microsoft.com/office/powerpoint/2010/main" val="25974637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79B7E1-6867-58A5-AC3C-DDC725752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598302A6-17F3-7F7F-56FC-FF8CE0F83B13}"/>
              </a:ext>
            </a:extLst>
          </p:cNvPr>
          <p:cNvSpPr txBox="1"/>
          <p:nvPr/>
        </p:nvSpPr>
        <p:spPr>
          <a:xfrm>
            <a:off x="1206062" y="651642"/>
            <a:ext cx="977987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noProof="0" dirty="0"/>
              <a:t>We are going to watch a 90 second video from the show </a:t>
            </a:r>
            <a:r>
              <a:rPr lang="en-US" sz="2000" b="1" i="1" noProof="0" dirty="0"/>
              <a:t>Modern Family. </a:t>
            </a:r>
            <a:r>
              <a:rPr lang="en-US" sz="2000" b="1" noProof="0" dirty="0"/>
              <a:t>The only thing you need to know about the show are the names of the two characters below.</a:t>
            </a:r>
          </a:p>
          <a:p>
            <a:pPr algn="ctr"/>
            <a:endParaRPr lang="en-US" sz="2000" b="1" noProof="0" dirty="0"/>
          </a:p>
          <a:p>
            <a:pPr algn="ctr"/>
            <a:r>
              <a:rPr lang="en-US" sz="2000" b="1" noProof="0" dirty="0"/>
              <a:t>Try to remember as much as possible!</a:t>
            </a:r>
            <a:endParaRPr lang="en-US" sz="2000" noProof="0" dirty="0">
              <a:ea typeface="Tinos" panose="02020603050405020304" pitchFamily="18" charset="0"/>
              <a:cs typeface="Tinos" panose="02020603050405020304" pitchFamily="18" charset="0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7AD17ABE-E26B-0C9F-9D3A-7FDA33830CE7}"/>
              </a:ext>
            </a:extLst>
          </p:cNvPr>
          <p:cNvSpPr txBox="1"/>
          <p:nvPr/>
        </p:nvSpPr>
        <p:spPr>
          <a:xfrm>
            <a:off x="3388274" y="4882920"/>
            <a:ext cx="24318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noProof="0" dirty="0"/>
              <a:t>Cam(eron)</a:t>
            </a:r>
            <a:endParaRPr lang="en-US" sz="2000" noProof="0" dirty="0">
              <a:ea typeface="Tinos" panose="02020603050405020304" pitchFamily="18" charset="0"/>
              <a:cs typeface="Tinos" panose="02020603050405020304" pitchFamily="18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AA7E441-CC4A-4040-256A-7EFC319F7EBD}"/>
              </a:ext>
            </a:extLst>
          </p:cNvPr>
          <p:cNvSpPr txBox="1"/>
          <p:nvPr/>
        </p:nvSpPr>
        <p:spPr>
          <a:xfrm>
            <a:off x="6287817" y="4882920"/>
            <a:ext cx="23083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noProof="0" dirty="0"/>
              <a:t>Mitch(ell)</a:t>
            </a:r>
            <a:endParaRPr lang="en-US" sz="2000" noProof="0" dirty="0">
              <a:ea typeface="Tinos" panose="02020603050405020304" pitchFamily="18" charset="0"/>
              <a:cs typeface="Tinos" panose="02020603050405020304" pitchFamily="18" charset="0"/>
            </a:endParaRPr>
          </a:p>
        </p:txBody>
      </p:sp>
      <p:pic>
        <p:nvPicPr>
          <p:cNvPr id="1026" name="Picture 2" descr="Cameron Modern Family Wardrobe">
            <a:extLst>
              <a:ext uri="{FF2B5EF4-FFF2-40B4-BE49-F238E27FC236}">
                <a16:creationId xmlns:a16="http://schemas.microsoft.com/office/drawing/2014/main" id="{9F659521-AF26-7387-8B44-01E1571DB9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5141" y="2512835"/>
            <a:ext cx="2370083" cy="23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Mitchell Pritchett | Wiki Modern Family español | Fandom">
            <a:extLst>
              <a:ext uri="{FF2B5EF4-FFF2-40B4-BE49-F238E27FC236}">
                <a16:creationId xmlns:a16="http://schemas.microsoft.com/office/drawing/2014/main" id="{D539DBA4-FABD-32A9-8B4C-9B1F3DC79B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6070" y="2512836"/>
            <a:ext cx="2370083" cy="2370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52524043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E4BB96-9B7D-9F60-ACB1-66C4BDD58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F9E50AD3-E891-8567-D021-20AB905C5AB5}"/>
              </a:ext>
            </a:extLst>
          </p:cNvPr>
          <p:cNvSpPr txBox="1"/>
          <p:nvPr/>
        </p:nvSpPr>
        <p:spPr>
          <a:xfrm>
            <a:off x="1206062" y="367862"/>
            <a:ext cx="97798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noProof="0" dirty="0"/>
              <a:t>Questions:</a:t>
            </a:r>
            <a:endParaRPr lang="en-US" sz="3600" noProof="0" dirty="0">
              <a:ea typeface="Tinos" panose="02020603050405020304" pitchFamily="18" charset="0"/>
              <a:cs typeface="Tinos" panose="02020603050405020304" pitchFamily="18" charset="0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00DCE130-FD98-036F-8093-5E852E00DB1E}"/>
              </a:ext>
            </a:extLst>
          </p:cNvPr>
          <p:cNvSpPr txBox="1"/>
          <p:nvPr/>
        </p:nvSpPr>
        <p:spPr>
          <a:xfrm>
            <a:off x="930166" y="1147292"/>
            <a:ext cx="10820399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noProof="0" dirty="0"/>
              <a:t>1. What item did Cam and Mitch originally need at the store? </a:t>
            </a:r>
            <a:endParaRPr lang="en-US" sz="2400" b="1" noProof="0" dirty="0"/>
          </a:p>
          <a:p>
            <a:r>
              <a:rPr lang="en-US" sz="2400" noProof="0" dirty="0"/>
              <a:t>2. What two items did Cam add to the cart that Mitch thought belonged in a </a:t>
            </a:r>
          </a:p>
          <a:p>
            <a:r>
              <a:rPr lang="en-US" sz="2400" dirty="0"/>
              <a:t>     general store? </a:t>
            </a:r>
            <a:endParaRPr lang="en-US" sz="2400" b="1" noProof="0" dirty="0"/>
          </a:p>
          <a:p>
            <a:r>
              <a:rPr lang="en-US" sz="2400" dirty="0"/>
              <a:t>3. </a:t>
            </a:r>
            <a:r>
              <a:rPr lang="en-US" sz="2400" noProof="0" dirty="0"/>
              <a:t>What item first got Mitch excited that it was in the store? </a:t>
            </a:r>
          </a:p>
          <a:p>
            <a:r>
              <a:rPr lang="en-US" sz="2400" dirty="0"/>
              <a:t>4. Cam referenced bringing what animal to the market? </a:t>
            </a:r>
            <a:endParaRPr lang="en-US" sz="2400" noProof="0" dirty="0"/>
          </a:p>
          <a:p>
            <a:r>
              <a:rPr lang="en-US" sz="2400" dirty="0"/>
              <a:t>5. In what did Mitch suggest they could store the additional diapers? </a:t>
            </a:r>
          </a:p>
          <a:p>
            <a:r>
              <a:rPr lang="en-US" sz="2400" dirty="0"/>
              <a:t>6. What color was Mitch’s shirt? </a:t>
            </a:r>
          </a:p>
          <a:p>
            <a:r>
              <a:rPr lang="en-US" sz="2400" dirty="0"/>
              <a:t>7. What color was Cam’s shirt? </a:t>
            </a:r>
          </a:p>
          <a:p>
            <a:r>
              <a:rPr lang="en-US" sz="2400" dirty="0"/>
              <a:t>8</a:t>
            </a:r>
            <a:r>
              <a:rPr lang="en-US" sz="2400" noProof="0" dirty="0"/>
              <a:t>. What product to Mitch call someone about </a:t>
            </a:r>
            <a:r>
              <a:rPr lang="en-US" sz="2400" dirty="0"/>
              <a:t>to see if they needed any? </a:t>
            </a:r>
            <a:endParaRPr lang="en-US" sz="2400" b="1" dirty="0"/>
          </a:p>
          <a:p>
            <a:r>
              <a:rPr lang="en-US" sz="2400" dirty="0"/>
              <a:t>9</a:t>
            </a:r>
            <a:r>
              <a:rPr lang="en-US" sz="2400" noProof="0" dirty="0"/>
              <a:t>. The kid on the other line had what on his face? </a:t>
            </a:r>
          </a:p>
          <a:p>
            <a:r>
              <a:rPr lang="en-US" sz="2400" dirty="0"/>
              <a:t>10. What two items did Mitch cite as giving the full range of products sold?</a:t>
            </a:r>
          </a:p>
          <a:p>
            <a:r>
              <a:rPr lang="en-US" sz="2400" dirty="0"/>
              <a:t>	</a:t>
            </a:r>
          </a:p>
          <a:p>
            <a:r>
              <a:rPr lang="en-US" sz="2400" noProof="0" dirty="0"/>
              <a:t>11. How many diapers are in one of the big boxes? </a:t>
            </a:r>
          </a:p>
          <a:p>
            <a:r>
              <a:rPr lang="en-US" sz="2400" dirty="0"/>
              <a:t>12. What aisle was Mitch going to at the end of the scene? </a:t>
            </a:r>
            <a:endParaRPr lang="en-US" sz="2400" b="1" noProof="0" dirty="0"/>
          </a:p>
        </p:txBody>
      </p:sp>
    </p:spTree>
    <p:extLst>
      <p:ext uri="{BB962C8B-B14F-4D97-AF65-F5344CB8AC3E}">
        <p14:creationId xmlns:p14="http://schemas.microsoft.com/office/powerpoint/2010/main" val="1793689387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47D017-C60A-9734-1008-F801A44C9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4ECDF9A5-EAD8-367F-D882-E148D1A316C1}"/>
              </a:ext>
            </a:extLst>
          </p:cNvPr>
          <p:cNvSpPr txBox="1"/>
          <p:nvPr/>
        </p:nvSpPr>
        <p:spPr>
          <a:xfrm>
            <a:off x="1206062" y="367862"/>
            <a:ext cx="97798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noProof="0" dirty="0"/>
              <a:t>Answers:</a:t>
            </a:r>
            <a:endParaRPr lang="en-US" sz="3600" noProof="0" dirty="0">
              <a:ea typeface="Tinos" panose="02020603050405020304" pitchFamily="18" charset="0"/>
              <a:cs typeface="Tinos" panose="02020603050405020304" pitchFamily="18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FB16BFCA-2C17-56CF-8D87-3C718FCC3937}"/>
              </a:ext>
            </a:extLst>
          </p:cNvPr>
          <p:cNvSpPr txBox="1"/>
          <p:nvPr/>
        </p:nvSpPr>
        <p:spPr>
          <a:xfrm>
            <a:off x="930166" y="1147292"/>
            <a:ext cx="10820399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noProof="0" dirty="0"/>
              <a:t>1. What item did Cam and Mitch originally need at the store? </a:t>
            </a:r>
            <a:r>
              <a:rPr lang="en-US" sz="2400" b="1" noProof="0" dirty="0"/>
              <a:t>diapers</a:t>
            </a:r>
          </a:p>
          <a:p>
            <a:r>
              <a:rPr lang="en-US" sz="2400" noProof="0" dirty="0"/>
              <a:t>2. What two items did Cam add to the cart that Mitch thought belonged in a </a:t>
            </a:r>
          </a:p>
          <a:p>
            <a:r>
              <a:rPr lang="en-US" sz="2400" dirty="0"/>
              <a:t>     general store? </a:t>
            </a:r>
            <a:r>
              <a:rPr lang="en-US" sz="2400" b="1" dirty="0"/>
              <a:t>toothpaste</a:t>
            </a:r>
            <a:r>
              <a:rPr lang="en-US" sz="2400" dirty="0"/>
              <a:t> and </a:t>
            </a:r>
            <a:r>
              <a:rPr lang="en-US" sz="2400" b="1" dirty="0"/>
              <a:t>soap</a:t>
            </a:r>
            <a:endParaRPr lang="en-US" sz="2400" b="1" noProof="0" dirty="0"/>
          </a:p>
          <a:p>
            <a:r>
              <a:rPr lang="en-US" sz="2400" dirty="0"/>
              <a:t>3. </a:t>
            </a:r>
            <a:r>
              <a:rPr lang="en-US" sz="2400" noProof="0" dirty="0"/>
              <a:t>What item first got Mitch excited that it was in the store? </a:t>
            </a:r>
            <a:r>
              <a:rPr lang="en-US" sz="2400" b="1" noProof="0" dirty="0"/>
              <a:t>paper shredder</a:t>
            </a:r>
            <a:endParaRPr lang="en-US" sz="2400" noProof="0" dirty="0"/>
          </a:p>
          <a:p>
            <a:r>
              <a:rPr lang="en-US" sz="2400" dirty="0"/>
              <a:t>4. Cam referenced bringing what animal to the market? </a:t>
            </a:r>
            <a:r>
              <a:rPr lang="en-US" sz="2400" b="1" dirty="0"/>
              <a:t>a mule</a:t>
            </a:r>
            <a:endParaRPr lang="en-US" sz="2400" noProof="0" dirty="0"/>
          </a:p>
          <a:p>
            <a:r>
              <a:rPr lang="en-US" sz="2400" dirty="0"/>
              <a:t>5. In what did Mitch suggest they could store the additional diapers? </a:t>
            </a:r>
            <a:r>
              <a:rPr lang="en-US" sz="2400" b="1" dirty="0"/>
              <a:t>a barn</a:t>
            </a:r>
            <a:endParaRPr lang="en-US" sz="2400" dirty="0"/>
          </a:p>
          <a:p>
            <a:r>
              <a:rPr lang="en-US" sz="2400" dirty="0"/>
              <a:t>6. What color was Mitch’s shirt? </a:t>
            </a:r>
            <a:r>
              <a:rPr lang="en-US" sz="2400" b="1" dirty="0"/>
              <a:t>purple</a:t>
            </a:r>
            <a:endParaRPr lang="en-US" sz="2400" dirty="0"/>
          </a:p>
          <a:p>
            <a:r>
              <a:rPr lang="en-US" sz="2400" dirty="0"/>
              <a:t>7. What color was Cam’s shirt? </a:t>
            </a:r>
            <a:r>
              <a:rPr lang="en-US" sz="2400" b="1" dirty="0"/>
              <a:t>blue</a:t>
            </a:r>
            <a:endParaRPr lang="en-US" sz="2400" dirty="0"/>
          </a:p>
          <a:p>
            <a:r>
              <a:rPr lang="en-US" sz="2400" dirty="0"/>
              <a:t>8</a:t>
            </a:r>
            <a:r>
              <a:rPr lang="en-US" sz="2400" noProof="0" dirty="0"/>
              <a:t>. What product to Mitch call someone about </a:t>
            </a:r>
            <a:r>
              <a:rPr lang="en-US" sz="2400" dirty="0"/>
              <a:t>to see if they needed any? </a:t>
            </a:r>
            <a:r>
              <a:rPr lang="en-US" sz="2400" b="1" dirty="0"/>
              <a:t>olives</a:t>
            </a:r>
          </a:p>
          <a:p>
            <a:r>
              <a:rPr lang="en-US" sz="2400" dirty="0"/>
              <a:t>9</a:t>
            </a:r>
            <a:r>
              <a:rPr lang="en-US" sz="2400" noProof="0" dirty="0"/>
              <a:t>. The kid on the other line had what on his face? </a:t>
            </a:r>
            <a:r>
              <a:rPr lang="en-US" sz="2400" b="1" noProof="0" dirty="0"/>
              <a:t>a milk moustache</a:t>
            </a:r>
            <a:endParaRPr lang="en-US" sz="2400" noProof="0" dirty="0"/>
          </a:p>
          <a:p>
            <a:r>
              <a:rPr lang="en-US" sz="2400" dirty="0"/>
              <a:t>10. What two items did Mitch cite as giving the full range of products sold?</a:t>
            </a:r>
          </a:p>
          <a:p>
            <a:r>
              <a:rPr lang="en-US" sz="2400" dirty="0"/>
              <a:t>	</a:t>
            </a:r>
            <a:r>
              <a:rPr lang="en-US" sz="2400" b="1" dirty="0"/>
              <a:t>baby formula </a:t>
            </a:r>
            <a:r>
              <a:rPr lang="en-US" sz="2400" dirty="0"/>
              <a:t>and </a:t>
            </a:r>
            <a:r>
              <a:rPr lang="en-US" sz="2400" b="1" dirty="0"/>
              <a:t>coffins</a:t>
            </a:r>
            <a:endParaRPr lang="en-US" sz="2400" dirty="0"/>
          </a:p>
          <a:p>
            <a:r>
              <a:rPr lang="en-US" sz="2400" noProof="0" dirty="0"/>
              <a:t>11. How many diapers are in one of the big boxes? </a:t>
            </a:r>
            <a:r>
              <a:rPr lang="en-US" sz="2400" b="1" noProof="0" dirty="0"/>
              <a:t>216</a:t>
            </a:r>
            <a:endParaRPr lang="en-US" sz="2400" noProof="0" dirty="0"/>
          </a:p>
          <a:p>
            <a:r>
              <a:rPr lang="en-US" sz="2400" dirty="0"/>
              <a:t>12. What aisle was Mitch going to at the end of the scene? </a:t>
            </a:r>
            <a:r>
              <a:rPr lang="en-US" sz="2400" b="1" dirty="0"/>
              <a:t>apple sauce</a:t>
            </a:r>
            <a:endParaRPr lang="en-US" sz="2400" b="1" noProof="0" dirty="0"/>
          </a:p>
        </p:txBody>
      </p:sp>
    </p:spTree>
    <p:extLst>
      <p:ext uri="{BB962C8B-B14F-4D97-AF65-F5344CB8AC3E}">
        <p14:creationId xmlns:p14="http://schemas.microsoft.com/office/powerpoint/2010/main" val="133840744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951</Words>
  <Application>Microsoft Macintosh PowerPoint</Application>
  <PresentationFormat>Grand écran</PresentationFormat>
  <Paragraphs>125</Paragraphs>
  <Slides>77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77</vt:i4>
      </vt:variant>
    </vt:vector>
  </HeadingPairs>
  <TitlesOfParts>
    <vt:vector size="82" baseType="lpstr">
      <vt:lpstr>Aptos</vt:lpstr>
      <vt:lpstr>Aptos Display</vt:lpstr>
      <vt:lpstr>Arial</vt:lpstr>
      <vt:lpstr>Tinos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Arnold, Taylor</dc:creator>
  <cp:lastModifiedBy>Arnold, Taylor</cp:lastModifiedBy>
  <cp:revision>5</cp:revision>
  <dcterms:created xsi:type="dcterms:W3CDTF">2025-10-19T15:01:53Z</dcterms:created>
  <dcterms:modified xsi:type="dcterms:W3CDTF">2025-10-19T17:06:25Z</dcterms:modified>
</cp:coreProperties>
</file>