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65" r:id="rId2"/>
    <p:sldId id="267" r:id="rId3"/>
    <p:sldId id="271"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7"/>
    <p:restoredTop sz="94694"/>
  </p:normalViewPr>
  <p:slideViewPr>
    <p:cSldViewPr snapToGrid="0" snapToObjects="1">
      <p:cViewPr varScale="1">
        <p:scale>
          <a:sx n="121" d="100"/>
          <a:sy n="121" d="100"/>
        </p:scale>
        <p:origin x="2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A7279-E60E-0F4B-A492-5BF69316071C}" type="datetimeFigureOut">
              <a:rPr lang="fr-FR" smtClean="0"/>
              <a:t>07/09/2025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B3A460-0244-0A48-960D-03CDE98D2AF9}" type="slidenum">
              <a:rPr lang="fr-FR" smtClean="0"/>
              <a:t>‹N°›</a:t>
            </a:fld>
            <a:endParaRPr lang="fr-FR"/>
          </a:p>
        </p:txBody>
      </p:sp>
    </p:spTree>
    <p:extLst>
      <p:ext uri="{BB962C8B-B14F-4D97-AF65-F5344CB8AC3E}">
        <p14:creationId xmlns:p14="http://schemas.microsoft.com/office/powerpoint/2010/main" val="54523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AA01D6-3E2E-3048-88FB-F31D2D7D01E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82CB76D-5934-D243-9648-80A4335889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A3D4122-66CD-9E42-89C0-5FF3243C9BD1}"/>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5" name="Espace réservé du pied de page 4">
            <a:extLst>
              <a:ext uri="{FF2B5EF4-FFF2-40B4-BE49-F238E27FC236}">
                <a16:creationId xmlns:a16="http://schemas.microsoft.com/office/drawing/2014/main" id="{AC367ED6-E912-6D4F-8988-D694069505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EFBFA74-1AD7-C74F-AAB3-1BE3F84EE4E2}"/>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1740593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BFA2A1-52A0-4C4C-982A-583ADC77776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BD5EF50-1A2F-8A4B-A7F8-ACA28C837C2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234B17-B7BC-0B46-888A-F5D6ECAFB9A9}"/>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5" name="Espace réservé du pied de page 4">
            <a:extLst>
              <a:ext uri="{FF2B5EF4-FFF2-40B4-BE49-F238E27FC236}">
                <a16:creationId xmlns:a16="http://schemas.microsoft.com/office/drawing/2014/main" id="{8C9C62B8-C921-B446-8AA2-10A1C1C83B8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63B5121-9805-6C4F-875C-E9EC1279FC1A}"/>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2804908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6F10F6-BE6C-AC4D-801F-11E488670C1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E367D0E-EE68-5740-BFA0-0087A7D2E2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27341AA-5E57-EB43-B20A-60AAEB554C9D}"/>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5" name="Espace réservé du pied de page 4">
            <a:extLst>
              <a:ext uri="{FF2B5EF4-FFF2-40B4-BE49-F238E27FC236}">
                <a16:creationId xmlns:a16="http://schemas.microsoft.com/office/drawing/2014/main" id="{FB32DA83-099B-5746-B11A-44DB92193B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CE0C98C-6A2F-1441-8C04-12B2D3956F2E}"/>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227891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632F7A-5579-7444-AA1A-7CB6646F07C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5B9E0ED-AD69-D54C-A6E3-7459B9015F1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DB488FE-8C00-B140-9835-372611083AD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0120A1F-A22F-9C4E-A1B2-929CBDA6D9E9}"/>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6" name="Espace réservé du pied de page 5">
            <a:extLst>
              <a:ext uri="{FF2B5EF4-FFF2-40B4-BE49-F238E27FC236}">
                <a16:creationId xmlns:a16="http://schemas.microsoft.com/office/drawing/2014/main" id="{2C77A836-D3EF-604D-AAA2-DC4527B7515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A2ABFA2-8FE5-E14C-B37A-4F38B3B5CD66}"/>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1624771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FBC819-9B07-044F-A179-746D4929148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B0EB5E9-9B71-8E4B-9E43-6D545C12E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DDFB3A0-7712-F845-80E1-118F655EDA7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D1369E9-BC2C-864C-949B-D2BAEE0DE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6A2AD5F-4DCC-0D4D-A8EA-22C9A9AFFFA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0F63096-4AD4-3042-81C0-04807FC612FC}"/>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8" name="Espace réservé du pied de page 7">
            <a:extLst>
              <a:ext uri="{FF2B5EF4-FFF2-40B4-BE49-F238E27FC236}">
                <a16:creationId xmlns:a16="http://schemas.microsoft.com/office/drawing/2014/main" id="{BB30CC11-22DD-994F-8512-097B9D0E310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09345E6-37B6-1B4B-96ED-79FB47D05684}"/>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4074587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BAE7BC-CE39-B447-8A8E-37A06779565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243D727-7EF1-7440-BC9C-E4EAF8560D27}"/>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4" name="Espace réservé du pied de page 3">
            <a:extLst>
              <a:ext uri="{FF2B5EF4-FFF2-40B4-BE49-F238E27FC236}">
                <a16:creationId xmlns:a16="http://schemas.microsoft.com/office/drawing/2014/main" id="{90199F62-E42A-D841-B3AA-2E39023A6EF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60AD364-1AA0-0440-A000-BF42A402AAAC}"/>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101516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3F1DD0C-698E-EF48-BE50-E044DC3952FA}"/>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3" name="Espace réservé du pied de page 2">
            <a:extLst>
              <a:ext uri="{FF2B5EF4-FFF2-40B4-BE49-F238E27FC236}">
                <a16:creationId xmlns:a16="http://schemas.microsoft.com/office/drawing/2014/main" id="{21176551-4BEC-C444-8040-31EC8F3B697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674863B-B89E-A444-ABEA-51569A336A22}"/>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3889160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DC7065-1F1C-2B4C-A28A-1537E16F83C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475F5A1-612D-F74E-87FA-E6CE03F31C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35A4101-49B9-0C4F-A8A1-A9794A836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FB6F4A3-9CE6-2B4D-BB7F-647D0900BB16}"/>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6" name="Espace réservé du pied de page 5">
            <a:extLst>
              <a:ext uri="{FF2B5EF4-FFF2-40B4-BE49-F238E27FC236}">
                <a16:creationId xmlns:a16="http://schemas.microsoft.com/office/drawing/2014/main" id="{7FE284CA-6C41-2649-8DAB-27F40417017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D2842D4-3997-2847-A4FB-AB28B87104BF}"/>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89554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8B6831-5D34-5C42-8123-714202C5C43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69959DE-C234-FE4E-A64F-58D6B5DC3C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DFBA18B-B91B-2440-96FC-5377DDDAC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121DFAF-AF5D-334E-BDF8-ED54C09C36F1}"/>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6" name="Espace réservé du pied de page 5">
            <a:extLst>
              <a:ext uri="{FF2B5EF4-FFF2-40B4-BE49-F238E27FC236}">
                <a16:creationId xmlns:a16="http://schemas.microsoft.com/office/drawing/2014/main" id="{2B1C6804-F84C-2D4A-B198-884AC6CC392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EF072D9-1DD2-F045-A12C-19BF2444574B}"/>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98794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4FB344-6841-E644-992C-F77F76795E3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C7C83A0-E4AF-AF4E-8764-B493406D166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7355F40-A974-204B-AE8B-E64BE8C63EC2}"/>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5" name="Espace réservé du pied de page 4">
            <a:extLst>
              <a:ext uri="{FF2B5EF4-FFF2-40B4-BE49-F238E27FC236}">
                <a16:creationId xmlns:a16="http://schemas.microsoft.com/office/drawing/2014/main" id="{94037AF3-39EA-8246-AED8-95CD569290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86CBD72-32CC-624A-ABEF-D3AB22AF5814}"/>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1127848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76D49FE-10F8-5741-A485-C4D72D28F78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877BDA-4CE1-8D45-A723-DA46BC19E69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D3113FF-4266-2542-8168-A62F24313AC1}"/>
              </a:ext>
            </a:extLst>
          </p:cNvPr>
          <p:cNvSpPr>
            <a:spLocks noGrp="1"/>
          </p:cNvSpPr>
          <p:nvPr>
            <p:ph type="dt" sz="half" idx="10"/>
          </p:nvPr>
        </p:nvSpPr>
        <p:spPr/>
        <p:txBody>
          <a:bodyPr/>
          <a:lstStyle/>
          <a:p>
            <a:fld id="{7B9169B0-A344-9A43-AAD5-682508993835}" type="datetimeFigureOut">
              <a:rPr lang="fr-FR" smtClean="0"/>
              <a:t>07/09/2025</a:t>
            </a:fld>
            <a:endParaRPr lang="fr-FR"/>
          </a:p>
        </p:txBody>
      </p:sp>
      <p:sp>
        <p:nvSpPr>
          <p:cNvPr id="5" name="Espace réservé du pied de page 4">
            <a:extLst>
              <a:ext uri="{FF2B5EF4-FFF2-40B4-BE49-F238E27FC236}">
                <a16:creationId xmlns:a16="http://schemas.microsoft.com/office/drawing/2014/main" id="{CBA2D1A1-9920-E64B-9E59-F90F6C7080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4BAD6C1-E0F9-C94C-9C49-DE1E32FEF5FC}"/>
              </a:ext>
            </a:extLst>
          </p:cNvPr>
          <p:cNvSpPr>
            <a:spLocks noGrp="1"/>
          </p:cNvSpPr>
          <p:nvPr>
            <p:ph type="sldNum" sz="quarter" idx="12"/>
          </p:nvPr>
        </p:nvSpPr>
        <p:spPr/>
        <p:txBody>
          <a:bodyPr/>
          <a:lstStyle/>
          <a:p>
            <a:fld id="{32AB45CD-FBC7-AD46-884B-BD8C98FD575D}" type="slidenum">
              <a:rPr lang="fr-FR" smtClean="0"/>
              <a:t>‹N°›</a:t>
            </a:fld>
            <a:endParaRPr lang="fr-FR"/>
          </a:p>
        </p:txBody>
      </p:sp>
    </p:spTree>
    <p:extLst>
      <p:ext uri="{BB962C8B-B14F-4D97-AF65-F5344CB8AC3E}">
        <p14:creationId xmlns:p14="http://schemas.microsoft.com/office/powerpoint/2010/main" val="265335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676B2C4-F4E4-7744-B2AE-E73CB1E15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6122187-1902-1B4A-84A8-B71EB2D62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727975-F918-FD47-9F32-6331AAF9FE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169B0-A344-9A43-AAD5-682508993835}" type="datetimeFigureOut">
              <a:rPr lang="fr-FR" smtClean="0"/>
              <a:t>07/09/2025</a:t>
            </a:fld>
            <a:endParaRPr lang="fr-FR"/>
          </a:p>
        </p:txBody>
      </p:sp>
      <p:sp>
        <p:nvSpPr>
          <p:cNvPr id="5" name="Espace réservé du pied de page 4">
            <a:extLst>
              <a:ext uri="{FF2B5EF4-FFF2-40B4-BE49-F238E27FC236}">
                <a16:creationId xmlns:a16="http://schemas.microsoft.com/office/drawing/2014/main" id="{5D333007-5239-2248-8A97-69261B541A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89E6822-4693-D543-AA6A-2363ED31A9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B45CD-FBC7-AD46-884B-BD8C98FD575D}" type="slidenum">
              <a:rPr lang="fr-FR" smtClean="0"/>
              <a:t>‹N°›</a:t>
            </a:fld>
            <a:endParaRPr lang="fr-FR"/>
          </a:p>
        </p:txBody>
      </p:sp>
    </p:spTree>
    <p:extLst>
      <p:ext uri="{BB962C8B-B14F-4D97-AF65-F5344CB8AC3E}">
        <p14:creationId xmlns:p14="http://schemas.microsoft.com/office/powerpoint/2010/main" val="1621281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F7D3-A771-EFD7-8A5C-ED8079F029F7}"/>
            </a:ext>
          </a:extLst>
        </p:cNvPr>
        <p:cNvGrpSpPr/>
        <p:nvPr/>
      </p:nvGrpSpPr>
      <p:grpSpPr>
        <a:xfrm>
          <a:off x="0" y="0"/>
          <a:ext cx="0" cy="0"/>
          <a:chOff x="0" y="0"/>
          <a:chExt cx="0" cy="0"/>
        </a:xfrm>
      </p:grpSpPr>
      <p:sp>
        <p:nvSpPr>
          <p:cNvPr id="72" name="ZoneTexte 71">
            <a:extLst>
              <a:ext uri="{FF2B5EF4-FFF2-40B4-BE49-F238E27FC236}">
                <a16:creationId xmlns:a16="http://schemas.microsoft.com/office/drawing/2014/main" id="{EEA97FCA-B8AC-F736-113A-BC4821D6FC48}"/>
              </a:ext>
            </a:extLst>
          </p:cNvPr>
          <p:cNvSpPr txBox="1"/>
          <p:nvPr/>
        </p:nvSpPr>
        <p:spPr>
          <a:xfrm>
            <a:off x="2146900" y="187151"/>
            <a:ext cx="7898199" cy="830997"/>
          </a:xfrm>
          <a:prstGeom prst="rect">
            <a:avLst/>
          </a:prstGeom>
          <a:noFill/>
        </p:spPr>
        <p:txBody>
          <a:bodyPr wrap="square" rtlCol="0">
            <a:spAutoFit/>
          </a:bodyPr>
          <a:lstStyle/>
          <a:p>
            <a:pPr algn="ctr"/>
            <a:r>
              <a:rPr lang="fr-FR" sz="4800" b="1" u="sng" noProof="1"/>
              <a:t>Pandas: DataFrames + Series</a:t>
            </a:r>
          </a:p>
        </p:txBody>
      </p:sp>
      <p:pic>
        <p:nvPicPr>
          <p:cNvPr id="1026" name="Picture 2">
            <a:extLst>
              <a:ext uri="{FF2B5EF4-FFF2-40B4-BE49-F238E27FC236}">
                <a16:creationId xmlns:a16="http://schemas.microsoft.com/office/drawing/2014/main" id="{26642E0C-BDD7-0C81-BB8A-4E67F3424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7345" y="6475487"/>
            <a:ext cx="856587" cy="299700"/>
          </a:xfrm>
          <a:prstGeom prst="rect">
            <a:avLst/>
          </a:prstGeom>
          <a:noFill/>
          <a:extLst>
            <a:ext uri="{909E8E84-426E-40DD-AFC4-6F175D3DCCD1}">
              <a14:hiddenFill xmlns:a14="http://schemas.microsoft.com/office/drawing/2010/main">
                <a:solidFill>
                  <a:srgbClr val="FFFFFF"/>
                </a:solidFill>
              </a14:hiddenFill>
            </a:ext>
          </a:extLst>
        </p:spPr>
      </p:pic>
      <p:sp>
        <p:nvSpPr>
          <p:cNvPr id="76" name="ZoneTexte 75">
            <a:extLst>
              <a:ext uri="{FF2B5EF4-FFF2-40B4-BE49-F238E27FC236}">
                <a16:creationId xmlns:a16="http://schemas.microsoft.com/office/drawing/2014/main" id="{F2706D9E-AC94-1B6A-30B7-B9A0AD500149}"/>
              </a:ext>
            </a:extLst>
          </p:cNvPr>
          <p:cNvSpPr txBox="1"/>
          <p:nvPr/>
        </p:nvSpPr>
        <p:spPr>
          <a:xfrm>
            <a:off x="68068" y="6475487"/>
            <a:ext cx="4030964" cy="338554"/>
          </a:xfrm>
          <a:prstGeom prst="rect">
            <a:avLst/>
          </a:prstGeom>
          <a:noFill/>
        </p:spPr>
        <p:txBody>
          <a:bodyPr wrap="square" rtlCol="0">
            <a:spAutoFit/>
          </a:bodyPr>
          <a:lstStyle/>
          <a:p>
            <a:r>
              <a:rPr lang="fr-FR" sz="1600" noProof="1">
                <a:solidFill>
                  <a:schemeClr val="bg1">
                    <a:lumMod val="65000"/>
                  </a:schemeClr>
                </a:solidFill>
              </a:rPr>
              <a:t>T. ARNOLD</a:t>
            </a:r>
          </a:p>
        </p:txBody>
      </p:sp>
      <p:sp>
        <p:nvSpPr>
          <p:cNvPr id="2" name="ZoneTexte 1">
            <a:extLst>
              <a:ext uri="{FF2B5EF4-FFF2-40B4-BE49-F238E27FC236}">
                <a16:creationId xmlns:a16="http://schemas.microsoft.com/office/drawing/2014/main" id="{2F519DFF-43C1-30B0-387C-7BAC30AB1856}"/>
              </a:ext>
            </a:extLst>
          </p:cNvPr>
          <p:cNvSpPr txBox="1"/>
          <p:nvPr/>
        </p:nvSpPr>
        <p:spPr>
          <a:xfrm>
            <a:off x="677589" y="1110481"/>
            <a:ext cx="10589756" cy="1938992"/>
          </a:xfrm>
          <a:prstGeom prst="rect">
            <a:avLst/>
          </a:prstGeom>
          <a:noFill/>
        </p:spPr>
        <p:txBody>
          <a:bodyPr wrap="square" rtlCol="0">
            <a:spAutoFit/>
          </a:bodyPr>
          <a:lstStyle/>
          <a:p>
            <a:pPr algn="just"/>
            <a:r>
              <a:rPr lang="fr-FR" sz="2000" noProof="1"/>
              <a:t>There are two important object types in the pandas module that we will be using throughout the semester to hold tabular datasets. A </a:t>
            </a:r>
            <a:r>
              <a:rPr lang="fr-FR" sz="2000" b="1" noProof="1"/>
              <a:t>DataFrame</a:t>
            </a:r>
            <a:r>
              <a:rPr lang="fr-FR" sz="2000" noProof="1"/>
              <a:t> is used to contain an entire tabular dataset, often created with </a:t>
            </a:r>
            <a:r>
              <a:rPr lang="fr-FR" sz="2000" noProof="1">
                <a:solidFill>
                  <a:schemeClr val="accent4">
                    <a:lumMod val="75000"/>
                  </a:schemeClr>
                </a:solidFill>
              </a:rPr>
              <a:t>pd.read_csv</a:t>
            </a:r>
            <a:r>
              <a:rPr lang="fr-FR" sz="2000" noProof="1"/>
              <a:t>. A Series object is used to store the individual columns of a DataFrame.</a:t>
            </a:r>
          </a:p>
          <a:p>
            <a:pPr algn="just"/>
            <a:endParaRPr lang="fr-FR" sz="2000" noProof="1"/>
          </a:p>
          <a:p>
            <a:pPr algn="just"/>
            <a:r>
              <a:rPr lang="fr-FR" sz="2000" noProof="1"/>
              <a:t>We can access a series through the following synax, where we assume we a dataset named </a:t>
            </a:r>
            <a:r>
              <a:rPr lang="fr-FR" sz="2000" b="1" noProof="1"/>
              <a:t>df</a:t>
            </a:r>
            <a:r>
              <a:rPr lang="fr-FR" sz="2000" noProof="1"/>
              <a:t> and a column named </a:t>
            </a:r>
            <a:r>
              <a:rPr lang="fr-FR" sz="2000" b="1" noProof="1"/>
              <a:t>cn</a:t>
            </a:r>
            <a:r>
              <a:rPr lang="fr-FR" sz="2000" noProof="1"/>
              <a:t>:</a:t>
            </a:r>
            <a:endParaRPr lang="fr-FR" sz="2000" b="1" noProof="1"/>
          </a:p>
        </p:txBody>
      </p:sp>
      <p:sp>
        <p:nvSpPr>
          <p:cNvPr id="3" name="ZoneTexte 2">
            <a:extLst>
              <a:ext uri="{FF2B5EF4-FFF2-40B4-BE49-F238E27FC236}">
                <a16:creationId xmlns:a16="http://schemas.microsoft.com/office/drawing/2014/main" id="{96757516-2931-27CE-D164-DEA45B9173FD}"/>
              </a:ext>
            </a:extLst>
          </p:cNvPr>
          <p:cNvSpPr txBox="1"/>
          <p:nvPr/>
        </p:nvSpPr>
        <p:spPr>
          <a:xfrm>
            <a:off x="1026613" y="3820511"/>
            <a:ext cx="9891707" cy="646331"/>
          </a:xfrm>
          <a:prstGeom prst="rect">
            <a:avLst/>
          </a:prstGeom>
          <a:noFill/>
        </p:spPr>
        <p:txBody>
          <a:bodyPr wrap="square" rtlCol="0">
            <a:spAutoFit/>
          </a:bodyPr>
          <a:lstStyle/>
          <a:p>
            <a:pPr algn="ctr"/>
            <a:r>
              <a:rPr lang="fr-FR" sz="3600" noProof="1">
                <a:solidFill>
                  <a:schemeClr val="accent4">
                    <a:lumMod val="75000"/>
                  </a:schemeClr>
                </a:solidFill>
              </a:rPr>
              <a:t>df["cn"]</a:t>
            </a:r>
          </a:p>
        </p:txBody>
      </p:sp>
      <p:sp>
        <p:nvSpPr>
          <p:cNvPr id="4" name="ZoneTexte 3">
            <a:extLst>
              <a:ext uri="{FF2B5EF4-FFF2-40B4-BE49-F238E27FC236}">
                <a16:creationId xmlns:a16="http://schemas.microsoft.com/office/drawing/2014/main" id="{19488D5A-FFEB-C627-7A1D-88D11AB9B757}"/>
              </a:ext>
            </a:extLst>
          </p:cNvPr>
          <p:cNvSpPr txBox="1"/>
          <p:nvPr/>
        </p:nvSpPr>
        <p:spPr>
          <a:xfrm>
            <a:off x="801121" y="4946399"/>
            <a:ext cx="10589756" cy="707886"/>
          </a:xfrm>
          <a:prstGeom prst="rect">
            <a:avLst/>
          </a:prstGeom>
          <a:noFill/>
        </p:spPr>
        <p:txBody>
          <a:bodyPr wrap="square" rtlCol="0">
            <a:spAutoFit/>
          </a:bodyPr>
          <a:lstStyle/>
          <a:p>
            <a:pPr algn="just"/>
            <a:r>
              <a:rPr lang="fr-FR" sz="2000" noProof="1"/>
              <a:t>Grabbing individual series is useful for a number of applcations, such as counting the values within the column and using the series as a way of selecting rows in the larger DataFrame object.</a:t>
            </a:r>
          </a:p>
        </p:txBody>
      </p:sp>
    </p:spTree>
    <p:extLst>
      <p:ext uri="{BB962C8B-B14F-4D97-AF65-F5344CB8AC3E}">
        <p14:creationId xmlns:p14="http://schemas.microsoft.com/office/powerpoint/2010/main" val="176355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AC270-4750-98EA-1571-6842D9BDBA97}"/>
            </a:ext>
          </a:extLst>
        </p:cNvPr>
        <p:cNvGrpSpPr/>
        <p:nvPr/>
      </p:nvGrpSpPr>
      <p:grpSpPr>
        <a:xfrm>
          <a:off x="0" y="0"/>
          <a:ext cx="0" cy="0"/>
          <a:chOff x="0" y="0"/>
          <a:chExt cx="0" cy="0"/>
        </a:xfrm>
      </p:grpSpPr>
      <p:sp>
        <p:nvSpPr>
          <p:cNvPr id="72" name="ZoneTexte 71">
            <a:extLst>
              <a:ext uri="{FF2B5EF4-FFF2-40B4-BE49-F238E27FC236}">
                <a16:creationId xmlns:a16="http://schemas.microsoft.com/office/drawing/2014/main" id="{70DD12DA-7CEC-867B-490F-C15954B8A023}"/>
              </a:ext>
            </a:extLst>
          </p:cNvPr>
          <p:cNvSpPr txBox="1"/>
          <p:nvPr/>
        </p:nvSpPr>
        <p:spPr>
          <a:xfrm>
            <a:off x="2412449" y="187151"/>
            <a:ext cx="7367101" cy="830997"/>
          </a:xfrm>
          <a:prstGeom prst="rect">
            <a:avLst/>
          </a:prstGeom>
          <a:noFill/>
        </p:spPr>
        <p:txBody>
          <a:bodyPr wrap="square" rtlCol="0">
            <a:spAutoFit/>
          </a:bodyPr>
          <a:lstStyle/>
          <a:p>
            <a:pPr algn="ctr"/>
            <a:r>
              <a:rPr lang="fr-FR" sz="4800" b="1" u="sng" noProof="1"/>
              <a:t>Selecting Rows + Columns</a:t>
            </a:r>
          </a:p>
        </p:txBody>
      </p:sp>
      <p:pic>
        <p:nvPicPr>
          <p:cNvPr id="1026" name="Picture 2">
            <a:extLst>
              <a:ext uri="{FF2B5EF4-FFF2-40B4-BE49-F238E27FC236}">
                <a16:creationId xmlns:a16="http://schemas.microsoft.com/office/drawing/2014/main" id="{85A31CB5-9B8F-3AA5-A949-46952FF14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7345" y="6475487"/>
            <a:ext cx="856587" cy="299700"/>
          </a:xfrm>
          <a:prstGeom prst="rect">
            <a:avLst/>
          </a:prstGeom>
          <a:noFill/>
          <a:extLst>
            <a:ext uri="{909E8E84-426E-40DD-AFC4-6F175D3DCCD1}">
              <a14:hiddenFill xmlns:a14="http://schemas.microsoft.com/office/drawing/2010/main">
                <a:solidFill>
                  <a:srgbClr val="FFFFFF"/>
                </a:solidFill>
              </a14:hiddenFill>
            </a:ext>
          </a:extLst>
        </p:spPr>
      </p:pic>
      <p:sp>
        <p:nvSpPr>
          <p:cNvPr id="76" name="ZoneTexte 75">
            <a:extLst>
              <a:ext uri="{FF2B5EF4-FFF2-40B4-BE49-F238E27FC236}">
                <a16:creationId xmlns:a16="http://schemas.microsoft.com/office/drawing/2014/main" id="{90030B53-A46B-2517-D081-0A222CD7716B}"/>
              </a:ext>
            </a:extLst>
          </p:cNvPr>
          <p:cNvSpPr txBox="1"/>
          <p:nvPr/>
        </p:nvSpPr>
        <p:spPr>
          <a:xfrm>
            <a:off x="68068" y="6475487"/>
            <a:ext cx="4030964" cy="338554"/>
          </a:xfrm>
          <a:prstGeom prst="rect">
            <a:avLst/>
          </a:prstGeom>
          <a:noFill/>
        </p:spPr>
        <p:txBody>
          <a:bodyPr wrap="square" rtlCol="0">
            <a:spAutoFit/>
          </a:bodyPr>
          <a:lstStyle/>
          <a:p>
            <a:r>
              <a:rPr lang="fr-FR" sz="1600" noProof="1">
                <a:solidFill>
                  <a:schemeClr val="bg1">
                    <a:lumMod val="65000"/>
                  </a:schemeClr>
                </a:solidFill>
              </a:rPr>
              <a:t>T. ARNOLD</a:t>
            </a:r>
          </a:p>
        </p:txBody>
      </p:sp>
      <p:sp>
        <p:nvSpPr>
          <p:cNvPr id="2" name="ZoneTexte 1">
            <a:extLst>
              <a:ext uri="{FF2B5EF4-FFF2-40B4-BE49-F238E27FC236}">
                <a16:creationId xmlns:a16="http://schemas.microsoft.com/office/drawing/2014/main" id="{A2AA75AA-04B2-B840-5B8F-1A1B6A66AE98}"/>
              </a:ext>
            </a:extLst>
          </p:cNvPr>
          <p:cNvSpPr txBox="1"/>
          <p:nvPr/>
        </p:nvSpPr>
        <p:spPr>
          <a:xfrm>
            <a:off x="677589" y="1110481"/>
            <a:ext cx="10589756" cy="707886"/>
          </a:xfrm>
          <a:prstGeom prst="rect">
            <a:avLst/>
          </a:prstGeom>
          <a:noFill/>
        </p:spPr>
        <p:txBody>
          <a:bodyPr wrap="square" rtlCol="0">
            <a:spAutoFit/>
          </a:bodyPr>
          <a:lstStyle/>
          <a:p>
            <a:pPr algn="just"/>
            <a:r>
              <a:rPr lang="fr-FR" sz="2000" noProof="1"/>
              <a:t>Assuming that we have a DataFrame object, we can select a subset of the rows and columns using the .loc method followed by a special syntax with square brackets. </a:t>
            </a:r>
          </a:p>
        </p:txBody>
      </p:sp>
      <p:sp>
        <p:nvSpPr>
          <p:cNvPr id="3" name="ZoneTexte 2">
            <a:extLst>
              <a:ext uri="{FF2B5EF4-FFF2-40B4-BE49-F238E27FC236}">
                <a16:creationId xmlns:a16="http://schemas.microsoft.com/office/drawing/2014/main" id="{D863BB74-76AE-6735-C8A3-D2338345CE4E}"/>
              </a:ext>
            </a:extLst>
          </p:cNvPr>
          <p:cNvSpPr txBox="1"/>
          <p:nvPr/>
        </p:nvSpPr>
        <p:spPr>
          <a:xfrm>
            <a:off x="2949837" y="3267012"/>
            <a:ext cx="5195511" cy="646331"/>
          </a:xfrm>
          <a:prstGeom prst="rect">
            <a:avLst/>
          </a:prstGeom>
          <a:noFill/>
        </p:spPr>
        <p:txBody>
          <a:bodyPr wrap="square" rtlCol="0">
            <a:spAutoFit/>
          </a:bodyPr>
          <a:lstStyle/>
          <a:p>
            <a:pPr algn="ctr"/>
            <a:r>
              <a:rPr lang="fr-FR" sz="3600" noProof="1">
                <a:solidFill>
                  <a:schemeClr val="accent4">
                    <a:lumMod val="75000"/>
                  </a:schemeClr>
                </a:solidFill>
              </a:rPr>
              <a:t>df.loc[</a:t>
            </a:r>
            <a:r>
              <a:rPr lang="fr-FR" sz="3600" noProof="1">
                <a:solidFill>
                  <a:schemeClr val="accent5">
                    <a:lumMod val="75000"/>
                  </a:schemeClr>
                </a:solidFill>
              </a:rPr>
              <a:t>df["cn"] &gt; 0</a:t>
            </a:r>
            <a:r>
              <a:rPr lang="fr-FR" sz="3600" noProof="1">
                <a:solidFill>
                  <a:schemeClr val="accent4">
                    <a:lumMod val="75000"/>
                  </a:schemeClr>
                </a:solidFill>
              </a:rPr>
              <a:t>, </a:t>
            </a:r>
            <a:r>
              <a:rPr lang="fr-FR" sz="3600" noProof="1">
                <a:solidFill>
                  <a:schemeClr val="accent6">
                    <a:lumMod val="75000"/>
                  </a:schemeClr>
                </a:solidFill>
              </a:rPr>
              <a:t>:</a:t>
            </a:r>
            <a:r>
              <a:rPr lang="fr-FR" sz="3600" noProof="1">
                <a:solidFill>
                  <a:schemeClr val="accent4">
                    <a:lumMod val="75000"/>
                  </a:schemeClr>
                </a:solidFill>
              </a:rPr>
              <a:t>]</a:t>
            </a:r>
          </a:p>
        </p:txBody>
      </p:sp>
      <p:sp>
        <p:nvSpPr>
          <p:cNvPr id="4" name="ZoneTexte 3">
            <a:extLst>
              <a:ext uri="{FF2B5EF4-FFF2-40B4-BE49-F238E27FC236}">
                <a16:creationId xmlns:a16="http://schemas.microsoft.com/office/drawing/2014/main" id="{656EAD0D-E43F-EFE0-B4AC-FFF2DA4EBC99}"/>
              </a:ext>
            </a:extLst>
          </p:cNvPr>
          <p:cNvSpPr txBox="1"/>
          <p:nvPr/>
        </p:nvSpPr>
        <p:spPr>
          <a:xfrm>
            <a:off x="1635900" y="4572466"/>
            <a:ext cx="1963100" cy="584775"/>
          </a:xfrm>
          <a:prstGeom prst="rect">
            <a:avLst/>
          </a:prstGeom>
          <a:noFill/>
        </p:spPr>
        <p:txBody>
          <a:bodyPr wrap="square" rtlCol="0">
            <a:spAutoFit/>
          </a:bodyPr>
          <a:lstStyle/>
          <a:p>
            <a:pPr algn="ctr"/>
            <a:r>
              <a:rPr lang="fr-FR" sz="1600" noProof="1"/>
              <a:t>DataFrame </a:t>
            </a:r>
            <a:r>
              <a:rPr lang="fr-FR" sz="1600" b="1" noProof="1"/>
              <a:t>method</a:t>
            </a:r>
            <a:r>
              <a:rPr lang="fr-FR" sz="1600" noProof="1"/>
              <a:t> to take a subset</a:t>
            </a:r>
          </a:p>
        </p:txBody>
      </p:sp>
      <p:sp>
        <p:nvSpPr>
          <p:cNvPr id="5" name="ZoneTexte 4">
            <a:extLst>
              <a:ext uri="{FF2B5EF4-FFF2-40B4-BE49-F238E27FC236}">
                <a16:creationId xmlns:a16="http://schemas.microsoft.com/office/drawing/2014/main" id="{CA8789E2-4727-F5B6-0621-3DD3BEADDC50}"/>
              </a:ext>
            </a:extLst>
          </p:cNvPr>
          <p:cNvSpPr txBox="1"/>
          <p:nvPr/>
        </p:nvSpPr>
        <p:spPr>
          <a:xfrm>
            <a:off x="4839176" y="5553017"/>
            <a:ext cx="1963100" cy="338554"/>
          </a:xfrm>
          <a:prstGeom prst="rect">
            <a:avLst/>
          </a:prstGeom>
          <a:noFill/>
        </p:spPr>
        <p:txBody>
          <a:bodyPr wrap="square" rtlCol="0">
            <a:spAutoFit/>
          </a:bodyPr>
          <a:lstStyle/>
          <a:p>
            <a:pPr algn="ctr"/>
            <a:r>
              <a:rPr lang="fr-FR" sz="1600" noProof="1"/>
              <a:t>selecting the </a:t>
            </a:r>
            <a:r>
              <a:rPr lang="fr-FR" sz="1600" b="1" noProof="1"/>
              <a:t>rows</a:t>
            </a:r>
          </a:p>
        </p:txBody>
      </p:sp>
      <p:sp>
        <p:nvSpPr>
          <p:cNvPr id="6" name="ZoneTexte 5">
            <a:extLst>
              <a:ext uri="{FF2B5EF4-FFF2-40B4-BE49-F238E27FC236}">
                <a16:creationId xmlns:a16="http://schemas.microsoft.com/office/drawing/2014/main" id="{4BA14361-923A-07A3-569C-2502E6B36685}"/>
              </a:ext>
            </a:extLst>
          </p:cNvPr>
          <p:cNvSpPr txBox="1"/>
          <p:nvPr/>
        </p:nvSpPr>
        <p:spPr>
          <a:xfrm>
            <a:off x="7163798" y="5039634"/>
            <a:ext cx="1963100" cy="830997"/>
          </a:xfrm>
          <a:prstGeom prst="rect">
            <a:avLst/>
          </a:prstGeom>
          <a:noFill/>
        </p:spPr>
        <p:txBody>
          <a:bodyPr wrap="square" rtlCol="0">
            <a:spAutoFit/>
          </a:bodyPr>
          <a:lstStyle/>
          <a:p>
            <a:pPr algn="ctr"/>
            <a:r>
              <a:rPr lang="fr-FR" sz="1600" noProof="1"/>
              <a:t>selecting the </a:t>
            </a:r>
            <a:r>
              <a:rPr lang="fr-FR" sz="1600" b="1" noProof="1"/>
              <a:t>columns</a:t>
            </a:r>
            <a:r>
              <a:rPr lang="fr-FR" sz="1600" noProof="1"/>
              <a:t>; the colon means "everything"</a:t>
            </a:r>
            <a:endParaRPr lang="fr-FR" sz="1600" b="1" noProof="1"/>
          </a:p>
        </p:txBody>
      </p:sp>
      <p:cxnSp>
        <p:nvCxnSpPr>
          <p:cNvPr id="12" name="Connecteur droit avec flèche 11">
            <a:extLst>
              <a:ext uri="{FF2B5EF4-FFF2-40B4-BE49-F238E27FC236}">
                <a16:creationId xmlns:a16="http://schemas.microsoft.com/office/drawing/2014/main" id="{EE4303B0-715C-98FB-3C25-CC157C89258A}"/>
              </a:ext>
            </a:extLst>
          </p:cNvPr>
          <p:cNvCxnSpPr>
            <a:stCxn id="4" idx="0"/>
          </p:cNvCxnSpPr>
          <p:nvPr/>
        </p:nvCxnSpPr>
        <p:spPr>
          <a:xfrm flipV="1">
            <a:off x="2617450" y="3913343"/>
            <a:ext cx="1481582" cy="65912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Connecteur droit avec flèche 12">
            <a:extLst>
              <a:ext uri="{FF2B5EF4-FFF2-40B4-BE49-F238E27FC236}">
                <a16:creationId xmlns:a16="http://schemas.microsoft.com/office/drawing/2014/main" id="{16723FBB-67DA-22E7-44AA-58FDD6299366}"/>
              </a:ext>
            </a:extLst>
          </p:cNvPr>
          <p:cNvCxnSpPr>
            <a:cxnSpLocks/>
          </p:cNvCxnSpPr>
          <p:nvPr/>
        </p:nvCxnSpPr>
        <p:spPr>
          <a:xfrm flipV="1">
            <a:off x="5886537" y="4267394"/>
            <a:ext cx="0" cy="123486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5" name="Connecteur droit avec flèche 14">
            <a:extLst>
              <a:ext uri="{FF2B5EF4-FFF2-40B4-BE49-F238E27FC236}">
                <a16:creationId xmlns:a16="http://schemas.microsoft.com/office/drawing/2014/main" id="{EC0DFD1C-F861-C52C-E69F-4A76F337E05E}"/>
              </a:ext>
            </a:extLst>
          </p:cNvPr>
          <p:cNvCxnSpPr>
            <a:cxnSpLocks/>
            <a:stCxn id="6" idx="0"/>
          </p:cNvCxnSpPr>
          <p:nvPr/>
        </p:nvCxnSpPr>
        <p:spPr>
          <a:xfrm flipH="1" flipV="1">
            <a:off x="7262648" y="3913343"/>
            <a:ext cx="882700" cy="11262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F543215D-D5B5-A12F-839C-912FE8AAF2E5}"/>
              </a:ext>
            </a:extLst>
          </p:cNvPr>
          <p:cNvCxnSpPr>
            <a:cxnSpLocks/>
          </p:cNvCxnSpPr>
          <p:nvPr/>
        </p:nvCxnSpPr>
        <p:spPr>
          <a:xfrm flipH="1">
            <a:off x="5568613" y="2557501"/>
            <a:ext cx="182443" cy="57552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 name="ZoneTexte 20">
            <a:extLst>
              <a:ext uri="{FF2B5EF4-FFF2-40B4-BE49-F238E27FC236}">
                <a16:creationId xmlns:a16="http://schemas.microsoft.com/office/drawing/2014/main" id="{A1B96CD3-7F9D-9A57-EC82-9A6F89835272}"/>
              </a:ext>
            </a:extLst>
          </p:cNvPr>
          <p:cNvSpPr txBox="1"/>
          <p:nvPr/>
        </p:nvSpPr>
        <p:spPr>
          <a:xfrm>
            <a:off x="5387424" y="2119091"/>
            <a:ext cx="2582954" cy="584775"/>
          </a:xfrm>
          <a:prstGeom prst="rect">
            <a:avLst/>
          </a:prstGeom>
          <a:noFill/>
        </p:spPr>
        <p:txBody>
          <a:bodyPr wrap="square" rtlCol="0">
            <a:spAutoFit/>
          </a:bodyPr>
          <a:lstStyle/>
          <a:p>
            <a:pPr algn="ctr"/>
            <a:r>
              <a:rPr lang="fr-FR" sz="1600" noProof="1"/>
              <a:t>grabbing a </a:t>
            </a:r>
            <a:r>
              <a:rPr lang="fr-FR" sz="1600" b="1" noProof="1"/>
              <a:t>series</a:t>
            </a:r>
            <a:r>
              <a:rPr lang="fr-FR" sz="1600" noProof="1"/>
              <a:t> to help with the selection</a:t>
            </a:r>
            <a:endParaRPr lang="fr-FR" sz="1600" b="1" noProof="1"/>
          </a:p>
        </p:txBody>
      </p:sp>
      <p:sp>
        <p:nvSpPr>
          <p:cNvPr id="22" name="Accolade ouvrante 21">
            <a:extLst>
              <a:ext uri="{FF2B5EF4-FFF2-40B4-BE49-F238E27FC236}">
                <a16:creationId xmlns:a16="http://schemas.microsoft.com/office/drawing/2014/main" id="{06C71D2C-9560-05A0-F24D-D02F4A8F1F25}"/>
              </a:ext>
            </a:extLst>
          </p:cNvPr>
          <p:cNvSpPr/>
          <p:nvPr/>
        </p:nvSpPr>
        <p:spPr>
          <a:xfrm rot="16200000">
            <a:off x="5780243" y="3027452"/>
            <a:ext cx="194501" cy="2055614"/>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3" name="Accolade ouvrante 22">
            <a:extLst>
              <a:ext uri="{FF2B5EF4-FFF2-40B4-BE49-F238E27FC236}">
                <a16:creationId xmlns:a16="http://schemas.microsoft.com/office/drawing/2014/main" id="{A331726A-8486-708B-6945-E28458040698}"/>
              </a:ext>
            </a:extLst>
          </p:cNvPr>
          <p:cNvSpPr/>
          <p:nvPr/>
        </p:nvSpPr>
        <p:spPr>
          <a:xfrm rot="5400000">
            <a:off x="5480528" y="2600551"/>
            <a:ext cx="151329" cy="1394925"/>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653581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7D7E-007B-B431-F493-928BC72EB0D6}"/>
            </a:ext>
          </a:extLst>
        </p:cNvPr>
        <p:cNvGrpSpPr/>
        <p:nvPr/>
      </p:nvGrpSpPr>
      <p:grpSpPr>
        <a:xfrm>
          <a:off x="0" y="0"/>
          <a:ext cx="0" cy="0"/>
          <a:chOff x="0" y="0"/>
          <a:chExt cx="0" cy="0"/>
        </a:xfrm>
      </p:grpSpPr>
      <p:sp>
        <p:nvSpPr>
          <p:cNvPr id="72" name="ZoneTexte 71">
            <a:extLst>
              <a:ext uri="{FF2B5EF4-FFF2-40B4-BE49-F238E27FC236}">
                <a16:creationId xmlns:a16="http://schemas.microsoft.com/office/drawing/2014/main" id="{94C3CA20-F936-99BE-96AC-8699A7A1F770}"/>
              </a:ext>
            </a:extLst>
          </p:cNvPr>
          <p:cNvSpPr txBox="1"/>
          <p:nvPr/>
        </p:nvSpPr>
        <p:spPr>
          <a:xfrm>
            <a:off x="2412449" y="187151"/>
            <a:ext cx="7367101" cy="830997"/>
          </a:xfrm>
          <a:prstGeom prst="rect">
            <a:avLst/>
          </a:prstGeom>
          <a:noFill/>
        </p:spPr>
        <p:txBody>
          <a:bodyPr wrap="square" rtlCol="0">
            <a:spAutoFit/>
          </a:bodyPr>
          <a:lstStyle/>
          <a:p>
            <a:pPr algn="ctr"/>
            <a:r>
              <a:rPr lang="fr-FR" sz="4800" b="1" u="sng" noProof="1"/>
              <a:t>Back to Graphics</a:t>
            </a:r>
          </a:p>
        </p:txBody>
      </p:sp>
      <p:pic>
        <p:nvPicPr>
          <p:cNvPr id="1026" name="Picture 2">
            <a:extLst>
              <a:ext uri="{FF2B5EF4-FFF2-40B4-BE49-F238E27FC236}">
                <a16:creationId xmlns:a16="http://schemas.microsoft.com/office/drawing/2014/main" id="{E84C6D3A-9F63-1F77-531D-5B6DF2700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7345" y="6475487"/>
            <a:ext cx="856587" cy="299700"/>
          </a:xfrm>
          <a:prstGeom prst="rect">
            <a:avLst/>
          </a:prstGeom>
          <a:noFill/>
          <a:extLst>
            <a:ext uri="{909E8E84-426E-40DD-AFC4-6F175D3DCCD1}">
              <a14:hiddenFill xmlns:a14="http://schemas.microsoft.com/office/drawing/2010/main">
                <a:solidFill>
                  <a:srgbClr val="FFFFFF"/>
                </a:solidFill>
              </a14:hiddenFill>
            </a:ext>
          </a:extLst>
        </p:spPr>
      </p:pic>
      <p:sp>
        <p:nvSpPr>
          <p:cNvPr id="76" name="ZoneTexte 75">
            <a:extLst>
              <a:ext uri="{FF2B5EF4-FFF2-40B4-BE49-F238E27FC236}">
                <a16:creationId xmlns:a16="http://schemas.microsoft.com/office/drawing/2014/main" id="{0AE1A3C6-39A4-D864-67AE-71BBCC70368B}"/>
              </a:ext>
            </a:extLst>
          </p:cNvPr>
          <p:cNvSpPr txBox="1"/>
          <p:nvPr/>
        </p:nvSpPr>
        <p:spPr>
          <a:xfrm>
            <a:off x="68068" y="6475487"/>
            <a:ext cx="4030964" cy="338554"/>
          </a:xfrm>
          <a:prstGeom prst="rect">
            <a:avLst/>
          </a:prstGeom>
          <a:noFill/>
        </p:spPr>
        <p:txBody>
          <a:bodyPr wrap="square" rtlCol="0">
            <a:spAutoFit/>
          </a:bodyPr>
          <a:lstStyle/>
          <a:p>
            <a:r>
              <a:rPr lang="fr-FR" sz="1600" noProof="1">
                <a:solidFill>
                  <a:schemeClr val="bg1">
                    <a:lumMod val="65000"/>
                  </a:schemeClr>
                </a:solidFill>
              </a:rPr>
              <a:t>T. ARNOLD</a:t>
            </a:r>
          </a:p>
        </p:txBody>
      </p:sp>
      <p:sp>
        <p:nvSpPr>
          <p:cNvPr id="13" name="ZoneTexte 12">
            <a:extLst>
              <a:ext uri="{FF2B5EF4-FFF2-40B4-BE49-F238E27FC236}">
                <a16:creationId xmlns:a16="http://schemas.microsoft.com/office/drawing/2014/main" id="{361FA370-2857-209E-07C2-97CF36BED60B}"/>
              </a:ext>
            </a:extLst>
          </p:cNvPr>
          <p:cNvSpPr txBox="1"/>
          <p:nvPr/>
        </p:nvSpPr>
        <p:spPr>
          <a:xfrm>
            <a:off x="677589" y="1153560"/>
            <a:ext cx="10589756" cy="1323439"/>
          </a:xfrm>
          <a:prstGeom prst="rect">
            <a:avLst/>
          </a:prstGeom>
          <a:noFill/>
        </p:spPr>
        <p:txBody>
          <a:bodyPr wrap="square" rtlCol="0">
            <a:spAutoFit/>
          </a:bodyPr>
          <a:lstStyle/>
          <a:p>
            <a:pPr algn="just"/>
            <a:r>
              <a:rPr lang="fr-FR" sz="2000" noProof="1"/>
              <a:t>Now that we have ways of making new datasets, let’s go back to our method of creating graphics to see something new. Before, we always used the same dataset for every layer in our plots. But, we can override the default dataset (the one in the ggplot function) by adding a </a:t>
            </a:r>
            <a:r>
              <a:rPr lang="fr-FR" sz="2000" i="1" noProof="1"/>
              <a:t>data</a:t>
            </a:r>
            <a:r>
              <a:rPr lang="fr-FR" sz="2000" noProof="1"/>
              <a:t> argument to any geometry. For example:</a:t>
            </a:r>
          </a:p>
        </p:txBody>
      </p:sp>
      <p:sp>
        <p:nvSpPr>
          <p:cNvPr id="3" name="ZoneTexte 2">
            <a:extLst>
              <a:ext uri="{FF2B5EF4-FFF2-40B4-BE49-F238E27FC236}">
                <a16:creationId xmlns:a16="http://schemas.microsoft.com/office/drawing/2014/main" id="{7BED101C-281D-59AC-14B5-67391990F2B6}"/>
              </a:ext>
            </a:extLst>
          </p:cNvPr>
          <p:cNvSpPr txBox="1"/>
          <p:nvPr/>
        </p:nvSpPr>
        <p:spPr>
          <a:xfrm>
            <a:off x="1026613" y="2828835"/>
            <a:ext cx="9891707" cy="1200329"/>
          </a:xfrm>
          <a:prstGeom prst="rect">
            <a:avLst/>
          </a:prstGeom>
          <a:noFill/>
        </p:spPr>
        <p:txBody>
          <a:bodyPr wrap="square" rtlCol="0">
            <a:spAutoFit/>
          </a:bodyPr>
          <a:lstStyle/>
          <a:p>
            <a:r>
              <a:rPr lang="fr-FR" sz="2400" noProof="1">
                <a:solidFill>
                  <a:schemeClr val="accent4">
                    <a:lumMod val="75000"/>
                  </a:schemeClr>
                </a:solidFill>
              </a:rPr>
              <a:t>(ggplot(df) +</a:t>
            </a:r>
          </a:p>
          <a:p>
            <a:r>
              <a:rPr lang="fr-FR" sz="2400" noProof="1">
                <a:solidFill>
                  <a:schemeClr val="accent4">
                    <a:lumMod val="75000"/>
                  </a:schemeClr>
                </a:solidFill>
              </a:rPr>
              <a:t>    geom_point(aes(x = "calories", y = "total_fat"), color="red") +</a:t>
            </a:r>
          </a:p>
          <a:p>
            <a:r>
              <a:rPr lang="fr-FR" sz="2400" noProof="1">
                <a:solidFill>
                  <a:schemeClr val="accent4">
                    <a:lumMod val="75000"/>
                  </a:schemeClr>
                </a:solidFill>
              </a:rPr>
              <a:t>    geom_point(aes(x = "calories", y = "total_fat"), color="blue", </a:t>
            </a:r>
            <a:r>
              <a:rPr lang="fr-FR" sz="2400" b="1" noProof="1">
                <a:solidFill>
                  <a:schemeClr val="accent6">
                    <a:lumMod val="75000"/>
                  </a:schemeClr>
                </a:solidFill>
              </a:rPr>
              <a:t>data=df_new</a:t>
            </a:r>
            <a:r>
              <a:rPr lang="fr-FR" sz="2400" noProof="1">
                <a:solidFill>
                  <a:schemeClr val="accent4">
                    <a:lumMod val="75000"/>
                  </a:schemeClr>
                </a:solidFill>
              </a:rPr>
              <a:t>))</a:t>
            </a:r>
          </a:p>
        </p:txBody>
      </p:sp>
      <p:sp>
        <p:nvSpPr>
          <p:cNvPr id="2" name="ZoneTexte 1">
            <a:extLst>
              <a:ext uri="{FF2B5EF4-FFF2-40B4-BE49-F238E27FC236}">
                <a16:creationId xmlns:a16="http://schemas.microsoft.com/office/drawing/2014/main" id="{F31DC1A1-D716-3C2C-FDC3-35492F62BA2C}"/>
              </a:ext>
            </a:extLst>
          </p:cNvPr>
          <p:cNvSpPr txBox="1"/>
          <p:nvPr/>
        </p:nvSpPr>
        <p:spPr>
          <a:xfrm>
            <a:off x="677589" y="4662693"/>
            <a:ext cx="10589756" cy="707886"/>
          </a:xfrm>
          <a:prstGeom prst="rect">
            <a:avLst/>
          </a:prstGeom>
          <a:noFill/>
        </p:spPr>
        <p:txBody>
          <a:bodyPr wrap="square" rtlCol="0">
            <a:spAutoFit/>
          </a:bodyPr>
          <a:lstStyle/>
          <a:p>
            <a:pPr algn="just"/>
            <a:r>
              <a:rPr lang="fr-FR" sz="2000" noProof="1"/>
              <a:t>This will create one plot with two sets of points, one in red and one in blue, from two different datasets. Where have we seen plots like this already? </a:t>
            </a:r>
          </a:p>
        </p:txBody>
      </p:sp>
    </p:spTree>
    <p:extLst>
      <p:ext uri="{BB962C8B-B14F-4D97-AF65-F5344CB8AC3E}">
        <p14:creationId xmlns:p14="http://schemas.microsoft.com/office/powerpoint/2010/main" val="19017759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TotalTime>
  <Words>371</Words>
  <Application>Microsoft Macintosh PowerPoint</Application>
  <PresentationFormat>Grand écran</PresentationFormat>
  <Paragraphs>22</Paragraphs>
  <Slides>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Arial</vt:lpstr>
      <vt:lpstr>Calibri</vt:lpstr>
      <vt:lpstr>Calibri Light</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Arnold, Taylor</dc:creator>
  <cp:lastModifiedBy>Arnold, Taylor</cp:lastModifiedBy>
  <cp:revision>37</cp:revision>
  <dcterms:created xsi:type="dcterms:W3CDTF">2021-04-28T17:57:29Z</dcterms:created>
  <dcterms:modified xsi:type="dcterms:W3CDTF">2025-09-07T16:32:12Z</dcterms:modified>
</cp:coreProperties>
</file>